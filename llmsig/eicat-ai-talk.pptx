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svg" ContentType="image/svg+xml"/>
  <Override PartName="/docProps/app.xml" ContentType="application/vnd.openxmlformats-officedocument.extended-properties+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embedTrueTypeFonts="1" saveSubsetFonts="1" strictFirstAndLastChar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 xmlns:ahyp="http://schemas.microsoft.com/office/drawing/2018/hyperlinkcolor" xmlns:c="http://schemas.openxmlformats.org/drawingml/2006/chart" xmlns:com="http://schemas.openxmlformats.org/drawingml/2006/compatibility" xmlns:dgm="http://schemas.openxmlformats.org/drawingml/2006/diagram" xmlns:go="http://customooxmlschemas.google.com/" xmlns:mc="http://schemas.openxmlformats.org/markup-compatibility/2006" xmlns:mv="urn:schemas-microsoft-com:mac:vml" xmlns:o="urn:schemas-microsoft-com:office:office" xmlns:p14="http://schemas.microsoft.com/office/powerpoint/2010/main" xmlns:p15="http://schemas.microsoft.com/office/powerpoint/2012/main" xmlns:pvml="urn:schemas-microsoft-com:office:powerpoint" xmlns:v="urn:schemas-microsoft-com:vml" roundtripDataSignature="AMtx7mib83F4WwPSPb91M4Ej8yKJP2mM/w==" r:id="rId20"/>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5611"/>
    <p:restoredTop sz="94674"/>
  </p:normalViewPr>
  <p:slideViewPr>
    <p:cSldViewPr showGuides="1" snapToGrid="0">
      <p:cViewPr varScale="1">
        <p:scale>
          <a:sx d="100" n="119"/>
          <a:sy d="100" n="119"/>
        </p:scale>
        <p:origin x="760" y="192"/>
      </p:cViewPr>
      <p:guideLst>
        <p:guide orient="horz" pos="2160"/>
        <p:guide pos="3840"/>
      </p:guideLst>
    </p:cSldViewPr>
  </p:slideViewPr>
  <p:notesTextViewPr>
    <p:cViewPr>
      <p:scale>
        <a:sx d="1" n="1"/>
        <a:sy d="1" n="1"/>
      </p:scale>
      <p:origin x="0" y="0"/>
    </p:cViewPr>
  </p:notesText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notesMaster" Target="notesMasters/notesMaster1.xml" /><Relationship Id="rId1" Type="http://schemas.openxmlformats.org/officeDocument/2006/relationships/slideMaster" Target="slideMasters/slideMaster1.xml" /><Relationship Id="rId20" Type="http://customschemas.google.com/relationships/presentationmetadata" Target="metadata" /><Relationship Id="rId21" Type="http://schemas.openxmlformats.org/officeDocument/2006/relationships/presProps" Target="presProps.xml" /><Relationship Id="rId22" Type="http://schemas.openxmlformats.org/officeDocument/2006/relationships/viewProps" Target="viewProps.xml" /><Relationship Id="rId23" Type="http://schemas.openxmlformats.org/officeDocument/2006/relationships/theme" Target="theme/theme1.xml" /><Relationship Id="rId24"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
        <p:nvSpPr>
          <p:cNvPr id="90" name="Slide Number Placeholder"/>
          <p:cNvSpPr>
            <a:spLocks noGrp="1"/>
          </p:cNvSpPr>
          <p:nvPr>
            <p:ph type="sldNum" sz="quarter" idx="5"/>
          </p:nvPr>
        </p:nvSpPr>
        <p:spPr>
          <a:xfrm>
            <a:off x="3884613" y="8685213"/>
            <a:ext cx="2971800" cy="458787"/>
          </a:xfrm>
          <a:prstGeom prst="rect">
            <a:avLst/>
          </a:prstGeom>
        </p:spPr>
        <p:txBody>
          <a:bodyPr anchor="b"/>
          <a:lstStyle/>
          <a:p>
            <a:pPr algn="r"/>
            <a:fld id="{18BDFEC3-8487-43E8-A154-7C12CBC1FFF2}" type="slidenum">
              <a:rPr lang="en-GB"/>
              <a:t>‹#›</a:t>
            </a:fld>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EICAT scores a species by its worst documented impact.</a:t>
            </a:r>
          </a:p>
          <a:p>
            <a:pPr lvl="0" indent="0" marL="0">
              <a:buNone/>
            </a:pPr>
          </a:p>
          <a:p>
            <a:pPr lvl="0" indent="0" marL="0">
              <a:buNone/>
            </a:pPr>
            <a:r>
              <a:rPr/>
              <a:t>EICAT is the IUCN standard for scoring how badly an alien species harms native biota. Each piece of evidence gets one of twelve mechanisms, such as competition, predation or hybridisation, and a severity from Minimal Concern up to Massive. A species is then scored by its worst documented impact. The scheme is simple; the evidence behind it is the hard part.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The bottleneck is reading.</a:t>
            </a:r>
          </a:p>
          <a:p>
            <a:pPr lvl="0" indent="0" marL="0">
              <a:buNone/>
            </a:pPr>
          </a:p>
          <a:p>
            <a:pPr lvl="0" indent="0" marL="0">
              <a:buNone/>
            </a:pPr>
            <a:r>
              <a:rPr/>
              <a:t>GISD, our gold standard, holds about 1,200 EICAT impact records from 800 references, and every one of those rows is a person reading a paper and judging mechanism and severity. Follow the bands: 71 percent of records are terrestrial, competition and predation together account for 60 percent, and the largest single category is Data Deficient at 37 percent. Major and Massive impacts are only 5 percent of records. Keep those rare classes in mind, because they come back to haunt us in the results.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can we hand some of that reading to a language model?</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From PDF to EICAT impact records.</a:t>
            </a:r>
          </a:p>
          <a:p>
            <a:pPr lvl="0" indent="0" marL="0">
              <a:buNone/>
            </a:pPr>
          </a:p>
          <a:p>
            <a:pPr lvl="0" indent="0" marL="0">
              <a:buNone/>
            </a:pPr>
            <a:r>
              <a:rPr/>
              <a:t>The pipeline is deliberately boring, because boring is reproducible. PDFs go through GROBID for clean body text, then to an LLM agent. Rather than retrieval over the guidelines, we distilled EICAT directly into the prompt and into a typed output schema, so the model physically cannot invent a category. The latest version adds seven worked GISD examples. Everything runs on AWS Bedrock in five containers.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Every impact is traceable to its evidence.</a:t>
            </a:r>
          </a:p>
          <a:p>
            <a:pPr lvl="0" indent="0" marL="0">
              <a:buNone/>
            </a:pPr>
          </a:p>
          <a:p>
            <a:pPr lvl="0" indent="0" marL="0">
              <a:buNone/>
            </a:pPr>
            <a:r>
              <a:rPr/>
              <a:t>This is the web app. The key design choice is that every impact the model reports carries the exact quote it relied on, so an assessor can verify it in seconds. The intended use is triage and drafting, with the expert still signing off.</a:t>
            </a:r>
          </a:p>
          <a:p>
            <a:pPr lvl="0" indent="0" marL="0">
              <a:buNone/>
            </a:pPr>
          </a:p>
          <a:p>
            <a:pPr lvl="0" indent="0" marL="0">
              <a:buNone/>
            </a:pPr>
            <a:r>
              <a:rPr b="1"/>
              <a:t>Video walkthrough</a:t>
            </a:r>
            <a:r>
              <a:rPr/>
              <a:t> (56 s, loops; the paper is Handal 2021 on the common myna, from the GISD):</a:t>
            </a:r>
          </a:p>
          <a:p>
            <a:pPr lvl="0" indent="0" marL="0">
              <a:buNone/>
            </a:pPr>
          </a:p>
          <a:p>
            <a:pPr lvl="0"/>
            <a:r>
              <a:rPr b="1"/>
              <a:t>0:00 Upload a paper.</a:t>
            </a:r>
            <a:r>
              <a:rPr/>
              <a:t> Drop in a PDF from the GISD reference list.</a:t>
            </a:r>
          </a:p>
          <a:p>
            <a:pPr lvl="0" indent="0" marL="0">
              <a:buNone/>
            </a:pPr>
          </a:p>
          <a:p>
            <a:pPr lvl="0"/>
            <a:r>
              <a:rPr b="1"/>
              <a:t>0:05 GROBID converts it to text.</a:t>
            </a:r>
            <a:r>
              <a:rPr/>
              <a:t> Waiting time is cut from the video.</a:t>
            </a:r>
          </a:p>
          <a:p>
            <a:pPr lvl="0" indent="0" marL="0">
              <a:buNone/>
            </a:pPr>
          </a:p>
          <a:p>
            <a:pPr lvl="0"/>
            <a:r>
              <a:rPr b="1"/>
              <a:t>0:06 Create an analysis for the species.</a:t>
            </a:r>
            <a:r>
              <a:rPr/>
              <a:t> </a:t>
            </a:r>
            <a:r>
              <a:rPr i="1"/>
              <a:t>Acridotheres tristis</a:t>
            </a:r>
            <a:r>
              <a:rPr/>
              <a:t>, common myna, then add the paper.</a:t>
            </a:r>
          </a:p>
          <a:p>
            <a:pPr lvl="0" indent="0" marL="0">
              <a:buNone/>
            </a:pPr>
          </a:p>
          <a:p>
            <a:pPr lvl="0"/>
            <a:r>
              <a:rPr b="1"/>
              <a:t>0:21 The LLM extracts EICAT impacts.</a:t>
            </a:r>
            <a:r>
              <a:rPr/>
              <a:t> One click on Run all; each row has a category, mechanism, impacted species, confidence and evidence.</a:t>
            </a:r>
          </a:p>
          <a:p>
            <a:pPr lvl="0" indent="0" marL="0">
              <a:buNone/>
            </a:pPr>
          </a:p>
          <a:p>
            <a:pPr lvl="0"/>
            <a:r>
              <a:rPr b="1"/>
              <a:t>0:30 Check the evidence in the paper.</a:t>
            </a:r>
            <a:r>
              <a:rPr/>
              <a:t> The quote is highlighted in the paper’s own text.</a:t>
            </a:r>
          </a:p>
          <a:p>
            <a:pPr lvl="0" indent="0" marL="0">
              <a:buNone/>
            </a:pPr>
          </a:p>
          <a:p>
            <a:pPr lvl="0"/>
            <a:r>
              <a:rPr b="1"/>
              <a:t>0:37 Verify it.</a:t>
            </a:r>
            <a:r>
              <a:rPr/>
              <a:t> The reviewer ticks the impact off.</a:t>
            </a:r>
          </a:p>
          <a:p>
            <a:pPr lvl="0" indent="0" marL="0">
              <a:buNone/>
            </a:pPr>
          </a:p>
          <a:p>
            <a:pPr lvl="0"/>
            <a:r>
              <a:rPr b="1"/>
              <a:t>0:40 Correct the severity.</a:t>
            </a:r>
            <a:r>
              <a:rPr/>
              <a:t> Change the category inline; the row is marked “AI, edited”.</a:t>
            </a:r>
          </a:p>
          <a:p>
            <a:pPr lvl="0" indent="0" marL="0">
              <a:buNone/>
            </a:pPr>
          </a:p>
          <a:p>
            <a:pPr lvl="0"/>
            <a:r>
              <a:rPr b="1"/>
              <a:t>0:49 Every decision is recorded.</a:t>
            </a:r>
            <a:r>
              <a:rPr/>
              <a:t> The history shows who changed what and when.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Building it is the easy half. Does it actually agree with the experts?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60 unseen papers, scored with recall-weighted F2.</a:t>
            </a:r>
          </a:p>
          <a:p>
            <a:pPr lvl="0" indent="0" marL="0">
              <a:buNone/>
            </a:pPr>
          </a:p>
          <a:p>
            <a:pPr lvl="0" indent="0" marL="0">
              <a:buNone/>
            </a:pPr>
            <a:r>
              <a:rPr/>
              <a:t>We held out 60 papers that were never touched during prompt development. Each one goes through the running app exactly as a user upload would. Free-text impacts can’t be matched by string comparison, so an independent model, GPT-5.5, pairs each extracted impact with the GISD impact describing the same effect. We report F2, which weights recall over precision: for an assessor, a missed impact costs more than a spurious one they can discard.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Finds three-quarters of GISD impacts on unseen papers.</a:t>
            </a:r>
          </a:p>
          <a:p>
            <a:pPr lvl="0" indent="0" marL="0">
              <a:buNone/>
            </a:pPr>
          </a:p>
          <a:p>
            <a:pPr lvl="0" indent="0" marL="0">
              <a:buNone/>
            </a:pPr>
            <a:r>
              <a:rPr/>
              <a:t>Headline numbers for the best setup, Claude Haiku 5.5 with the improved prompt. It finds three-quarters of the impacts GISD records. Mechanism labels are right about two-thirds of the time, category labels about half. And for three-quarters of papers, its most severe category is within one step of GISD’s.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Two models, two prompts: all land at F2 ≈ 0.6.</a:t>
            </a:r>
          </a:p>
          <a:p>
            <a:pPr lvl="0" indent="0" marL="0">
              <a:buNone/>
            </a:pPr>
          </a:p>
          <a:p>
            <a:pPr lvl="0" indent="0" marL="0">
              <a:buNone/>
            </a:pPr>
            <a:r>
              <a:rPr/>
              <a:t>We compared two Bedrock models, Haiku 5.5 and Nova Lite, each with the original and the improved prompt. They all land at an F2 of about 0.6, and the confidence intervals overlap. The improved prompt mostly moves Haiku along the precision-recall trade-off: it finds more and over-reports more. The cost is roughly 0.4 cents per paper.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Stated mechanisms are easy; inferred ones are hard.</a:t>
            </a:r>
          </a:p>
          <a:p>
            <a:pPr lvl="0" indent="0" marL="0">
              <a:buNone/>
            </a:pPr>
          </a:p>
          <a:p>
            <a:pPr lvl="0" indent="0" marL="0">
              <a:buNone/>
            </a:pPr>
            <a:r>
              <a:rPr/>
              <a:t>Accuracy is far from uniform. Predation and competition, which papers usually state outright, are above 85 percent. Chemical impacts and grazing, which need inference, sit around 20 percent. For categories, Minor and Data Deficient are recognised well; Minimal Concern and Major less so. Mind the small n on several spokes.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Severity is usually close, rarely exact.</a:t>
            </a:r>
          </a:p>
          <a:p>
            <a:pPr lvl="0" indent="0" marL="0">
              <a:buNone/>
            </a:pPr>
          </a:p>
          <a:p>
            <a:pPr lvl="0" indent="0" marL="0">
              <a:buNone/>
            </a:pPr>
            <a:r>
              <a:rPr/>
              <a:t>For the paper’s worst impact, 38 percent are exact and another 37 percent are one category out. So the model is in the right neighbourhood, but rarely at the right address. That raises the obvious question: how often do human experts land at the same address?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 judge the model fairly, we need a human baseline.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Humans agree fairly on impacts, substantially on severity.</a:t>
            </a:r>
          </a:p>
          <a:p>
            <a:pPr lvl="0" indent="0" marL="0">
              <a:buNone/>
            </a:pPr>
          </a:p>
          <a:p>
            <a:pPr lvl="0" indent="0" marL="0">
              <a:buNone/>
            </a:pPr>
            <a:r>
              <a:rPr/>
              <a:t>Eleven annotators, six experienced in EICAT and five not, each assessed the same six papers. Agreement on which impacts are present is only fair, with alpha at 0.39. Agreement on each paper’s worst category is substantial, at 0.69, yet only one of the six papers was unanimous. Within-group alpha for impacts looks low because the experienced annotators agree on almost everything they found, which leaves alpha little to credit; the next slide shows that more directly.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Experience shows in which impacts are found.</a:t>
            </a:r>
          </a:p>
          <a:p>
            <a:pPr lvl="0" indent="0" marL="0">
              <a:buNone/>
            </a:pPr>
          </a:p>
          <a:p>
            <a:pPr lvl="0" indent="0" marL="0">
              <a:buNone/>
            </a:pPr>
            <a:r>
              <a:rPr/>
              <a:t>Each dot is a pair of annotators, scored by how much the impacts they found overlap. Experienced pairs overlap at 0.81, against 0.48 for inexperienced pairs; an exact permutation test puts that at p = 0.026. With groups of six and five this is indicative rather than definitive, but it suggests EICAT experience mainly helps people agree on which impacts count.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Headline:</a:t>
            </a:r>
            <a:r>
              <a:rPr/>
              <a:t> A diligent but over-enthusiastic research assistant.</a:t>
            </a:r>
          </a:p>
          <a:p>
            <a:pPr lvl="0" indent="0" marL="0">
              <a:buNone/>
            </a:pPr>
          </a:p>
          <a:p>
            <a:pPr lvl="0" indent="0" marL="0">
              <a:buNone/>
            </a:pPr>
            <a:r>
              <a:rPr/>
              <a:t>To summarise: the model is a diligent but over-enthusiastic research assistant. It finds most of what the experts found and cites its evidence, but it over-reports and its severity calls need checking. Human experts are not unanimous either, especially on which impacts a paper contains. Next we will scale up the agreement study, so the model can be benchmarked against the human ceiling rather than a single gold standard.</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Thank you. The code, evaluation scripts and these figures are all in the EICAT-AI repository. Happy to take questions.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 Id="rId17" Type="http://schemas.openxmlformats.org/officeDocument/2006/relationships/image" Target="../media/image18.png"/><Relationship Id="rId18" Type="http://schemas.openxmlformats.org/officeDocument/2006/relationships/image" Target="../media/image19.png"/><Relationship Id="rId19" Type="http://schemas.openxmlformats.org/officeDocument/2006/relationships/image" Target="../media/image20.png"/><Relationship Id="rId20" Type="http://schemas.openxmlformats.org/officeDocument/2006/relationships/image" Target="../media/image21.png"/><Relationship Id="rId21" Type="http://schemas.openxmlformats.org/officeDocument/2006/relationships/image" Target="../media/image22.png"/><Relationship Id="rId22" Type="http://schemas.openxmlformats.org/officeDocument/2006/relationships/image" Target="../media/image23.png"/><Relationship Id="rId23" Type="http://schemas.openxmlformats.org/officeDocument/2006/relationships/image" Target="../media/image24.png"/><Relationship Id="rId24" Type="http://schemas.openxmlformats.org/officeDocument/2006/relationships/image" Target="../media/image2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Заглавен слайд">
  <p:cSld name="Title Slide">
    <p:spTree>
      <p:nvGrpSpPr>
        <p:cNvPr id="1" name="Shape 10"/>
        <p:cNvGrpSpPr/>
        <p:nvPr/>
      </p:nvGrpSpPr>
      <p:grpSpPr>
        <a:xfrm>
          <a:off x="0" y="0"/>
          <a:ext cx="0" cy="0"/>
          <a:chOff x="0" y="0"/>
          <a:chExt cx="0" cy="0"/>
        </a:xfrm>
      </p:grpSpPr>
      <p:pic>
        <p:nvPicPr>
          <p:cNvPr id="11" name="Google Shape;11;p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 name="Google Shape;12;p9"/>
          <p:cNvSpPr txBox="1">
            <a:spLocks noGrp="1"/>
          </p:cNvSpPr>
          <p:nvPr>
            <p:ph type="ctrTitle"/>
          </p:nvPr>
        </p:nvSpPr>
        <p:spPr>
          <a:xfrm>
            <a:off x="454212" y="1742670"/>
            <a:ext cx="6678108" cy="1794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13F33"/>
              </a:buClr>
              <a:buSzPts val="4400"/>
              <a:buFont typeface="Century Gothic"/>
              <a:buNone/>
              <a:defRPr sz="4400" b="1">
                <a:solidFill>
                  <a:srgbClr val="313F33"/>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9"/>
          <p:cNvSpPr txBox="1">
            <a:spLocks noGrp="1"/>
          </p:cNvSpPr>
          <p:nvPr>
            <p:ph type="subTitle" idx="1"/>
          </p:nvPr>
        </p:nvSpPr>
        <p:spPr>
          <a:xfrm>
            <a:off x="454212" y="3734021"/>
            <a:ext cx="6678108" cy="436843"/>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3A3838"/>
              </a:buClr>
              <a:buSzPts val="2400"/>
              <a:buNone/>
              <a:defRPr sz="2400" b="0" i="0">
                <a:solidFill>
                  <a:srgbClr val="3A3838"/>
                </a:solidFill>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4" name="Google Shape;14;p9"/>
          <p:cNvPicPr preferRelativeResize="0"/>
          <p:nvPr/>
        </p:nvPicPr>
        <p:blipFill rotWithShape="1">
          <a:blip r:embed="rId3">
            <a:alphaModFix/>
          </a:blip>
          <a:srcRect/>
          <a:stretch/>
        </p:blipFill>
        <p:spPr>
          <a:xfrm>
            <a:off x="108318" y="155011"/>
            <a:ext cx="3947914" cy="1369148"/>
          </a:xfrm>
          <a:prstGeom prst="rect">
            <a:avLst/>
          </a:prstGeom>
          <a:noFill/>
          <a:ln>
            <a:noFill/>
          </a:ln>
        </p:spPr>
      </p:pic>
      <p:sp>
        <p:nvSpPr>
          <p:cNvPr id="15" name="Google Shape;15;p9"/>
          <p:cNvSpPr>
            <a:spLocks noGrp="1"/>
          </p:cNvSpPr>
          <p:nvPr>
            <p:ph type="pic" idx="2"/>
          </p:nvPr>
        </p:nvSpPr>
        <p:spPr>
          <a:xfrm>
            <a:off x="2547569" y="6062084"/>
            <a:ext cx="2112114" cy="640905"/>
          </a:xfrm>
          <a:prstGeom prst="rect">
            <a:avLst/>
          </a:prstGeom>
          <a:noFill/>
          <a:ln>
            <a:noFill/>
          </a:ln>
        </p:spPr>
      </p:sp>
      <p:pic>
        <p:nvPicPr>
          <p:cNvPr id="16" name="Google Shape;16;p9"/>
          <p:cNvPicPr preferRelativeResize="0"/>
          <p:nvPr/>
        </p:nvPicPr>
        <p:blipFill rotWithShape="1">
          <a:blip r:embed="rId4">
            <a:alphaModFix/>
          </a:blip>
          <a:srcRect/>
          <a:stretch/>
        </p:blipFill>
        <p:spPr>
          <a:xfrm>
            <a:off x="454212" y="6217095"/>
            <a:ext cx="1836638" cy="38531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лавие и съдържание" type="obj">
  <p:cSld name="Title and Content">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spcFirstLastPara="1" wrap="square" lIns="0" tIns="0" rIns="36000" bIns="45700" anchor="t" anchorCtr="0">
            <a:normAutofit/>
          </a:bodyPr>
          <a:lstStyle>
            <a:lvl1pPr lvl="0" algn="l">
              <a:lnSpc>
                <a:spcPct val="90000"/>
              </a:lnSpc>
              <a:spcBef>
                <a:spcPts val="0"/>
              </a:spcBef>
              <a:spcAft>
                <a:spcPts val="0"/>
              </a:spcAft>
              <a:buClr>
                <a:srgbClr val="313F33"/>
              </a:buClr>
              <a:buSzPts val="3200"/>
              <a:buFont typeface="Century Gothic"/>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9" name="Google Shape;19;p10"/>
          <p:cNvSpPr txBox="1">
            <a:spLocks noGrp="1"/>
          </p:cNvSpPr>
          <p:nvPr>
            <p:ph idx="1"/>
          </p:nvPr>
        </p:nvSpPr>
        <p:spPr>
          <a:xfrm>
            <a:off x="521771" y="1317035"/>
            <a:ext cx="10990193" cy="47548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3CBB54"/>
              </a:buClr>
              <a:buSzPts val="2800"/>
              <a:buChar char="•"/>
              <a:defRPr sz="2000">
                <a:solidFill>
                  <a:schemeClr val="tx1">
                    <a:lumMod val="85000"/>
                    <a:lumOff val="15000"/>
                  </a:schemeClr>
                </a:solidFill>
              </a:defRPr>
            </a:lvl1pPr>
            <a:lvl2pPr marL="914400" lvl="1" indent="-381000" algn="l">
              <a:lnSpc>
                <a:spcPct val="90000"/>
              </a:lnSpc>
              <a:spcBef>
                <a:spcPts val="500"/>
              </a:spcBef>
              <a:spcAft>
                <a:spcPts val="0"/>
              </a:spcAft>
              <a:buClr>
                <a:srgbClr val="3CBB54"/>
              </a:buClr>
              <a:buSzPts val="2400"/>
              <a:buChar char="•"/>
              <a:defRPr/>
            </a:lvl2pPr>
            <a:lvl3pPr marL="1371600" lvl="2" indent="-355600" algn="l">
              <a:lnSpc>
                <a:spcPct val="90000"/>
              </a:lnSpc>
              <a:spcBef>
                <a:spcPts val="500"/>
              </a:spcBef>
              <a:spcAft>
                <a:spcPts val="0"/>
              </a:spcAft>
              <a:buClr>
                <a:srgbClr val="3CBB54"/>
              </a:buClr>
              <a:buSzPts val="2000"/>
              <a:buChar char="•"/>
              <a:defRPr/>
            </a:lvl3pPr>
            <a:lvl4pPr marL="1828800" lvl="3" indent="-342900" algn="l">
              <a:lnSpc>
                <a:spcPct val="90000"/>
              </a:lnSpc>
              <a:spcBef>
                <a:spcPts val="500"/>
              </a:spcBef>
              <a:spcAft>
                <a:spcPts val="0"/>
              </a:spcAft>
              <a:buClr>
                <a:srgbClr val="3CBB54"/>
              </a:buClr>
              <a:buSzPts val="1800"/>
              <a:buChar char="•"/>
              <a:defRPr/>
            </a:lvl4pPr>
            <a:lvl5pPr marL="2286000" lvl="4" indent="-342900" algn="l">
              <a:lnSpc>
                <a:spcPct val="90000"/>
              </a:lnSpc>
              <a:spcBef>
                <a:spcPts val="500"/>
              </a:spcBef>
              <a:spcAft>
                <a:spcPts val="0"/>
              </a:spcAft>
              <a:buClr>
                <a:srgbClr val="3CBB5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 name="Google Shape;24;p11">
            <a:extLst>
              <a:ext uri="{FF2B5EF4-FFF2-40B4-BE49-F238E27FC236}">
                <a16:creationId xmlns:a16="http://schemas.microsoft.com/office/drawing/2014/main" id="{804A647E-0A97-52DB-FD05-E7F3B42B5B82}"/>
              </a:ext>
            </a:extLst>
          </p:cNvPr>
          <p:cNvPicPr preferRelativeResize="0"/>
          <p:nvPr userDrawn="1"/>
        </p:nvPicPr>
        <p:blipFill rotWithShape="1">
          <a:blip r:embed="rId2">
            <a:alphaModFix/>
          </a:blip>
          <a:srcRect/>
          <a:stretch/>
        </p:blipFill>
        <p:spPr>
          <a:xfrm>
            <a:off x="10547100" y="6233087"/>
            <a:ext cx="1351689" cy="468883"/>
          </a:xfrm>
          <a:prstGeom prst="rect">
            <a:avLst/>
          </a:prstGeom>
          <a:noFill/>
          <a:ln>
            <a:noFill/>
          </a:ln>
        </p:spPr>
      </p:pic>
      <p:pic>
        <p:nvPicPr>
          <p:cNvPr id="3" name="Google Shape;46;p11">
            <a:extLst>
              <a:ext uri="{FF2B5EF4-FFF2-40B4-BE49-F238E27FC236}">
                <a16:creationId xmlns:a16="http://schemas.microsoft.com/office/drawing/2014/main" id="{1E4D5B92-8972-AC9E-BCA1-0D22AE2EA99B}"/>
              </a:ext>
            </a:extLst>
          </p:cNvPr>
          <p:cNvPicPr preferRelativeResize="0"/>
          <p:nvPr userDrawn="1"/>
        </p:nvPicPr>
        <p:blipFill rotWithShape="1">
          <a:blip r:embed="rId3">
            <a:alphaModFix/>
          </a:blip>
          <a:srcRect/>
          <a:stretch/>
        </p:blipFill>
        <p:spPr>
          <a:xfrm>
            <a:off x="293211" y="6306999"/>
            <a:ext cx="1530350" cy="32106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лавка разд.">
  <p:cSld name="Заглавка разд.">
    <p:spTree>
      <p:nvGrpSpPr>
        <p:cNvPr id="1" name="Shape 22"/>
        <p:cNvGrpSpPr/>
        <p:nvPr/>
      </p:nvGrpSpPr>
      <p:grpSpPr>
        <a:xfrm>
          <a:off x="0" y="0"/>
          <a:ext cx="0" cy="0"/>
          <a:chOff x="0" y="0"/>
          <a:chExt cx="0" cy="0"/>
        </a:xfrm>
      </p:grpSpPr>
      <p:sp>
        <p:nvSpPr>
          <p:cNvPr id="23" name="Google Shape;23;p11"/>
          <p:cNvSpPr txBox="1">
            <a:spLocks noGrp="1"/>
          </p:cNvSpPr>
          <p:nvPr>
            <p:ph type="title"/>
          </p:nvPr>
        </p:nvSpPr>
        <p:spPr>
          <a:xfrm>
            <a:off x="628650" y="365126"/>
            <a:ext cx="11271250" cy="71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13F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24" name="Google Shape;24;p11"/>
          <p:cNvPicPr preferRelativeResize="0"/>
          <p:nvPr/>
        </p:nvPicPr>
        <p:blipFill rotWithShape="1">
          <a:blip r:embed="rId2">
            <a:alphaModFix/>
          </a:blip>
          <a:srcRect/>
          <a:stretch/>
        </p:blipFill>
        <p:spPr>
          <a:xfrm>
            <a:off x="10547100" y="6233087"/>
            <a:ext cx="1351689" cy="468883"/>
          </a:xfrm>
          <a:prstGeom prst="rect">
            <a:avLst/>
          </a:prstGeom>
          <a:noFill/>
          <a:ln>
            <a:noFill/>
          </a:ln>
        </p:spPr>
      </p:pic>
      <p:pic>
        <p:nvPicPr>
          <p:cNvPr id="46" name="Google Shape;46;p11"/>
          <p:cNvPicPr preferRelativeResize="0"/>
          <p:nvPr/>
        </p:nvPicPr>
        <p:blipFill rotWithShape="1">
          <a:blip r:embed="rId3">
            <a:alphaModFix/>
          </a:blip>
          <a:srcRect/>
          <a:stretch/>
        </p:blipFill>
        <p:spPr>
          <a:xfrm>
            <a:off x="293211" y="6306999"/>
            <a:ext cx="1530350" cy="321060"/>
          </a:xfrm>
          <a:prstGeom prst="rect">
            <a:avLst/>
          </a:prstGeom>
          <a:noFill/>
          <a:ln>
            <a:noFill/>
          </a:ln>
        </p:spPr>
      </p:pic>
      <p:pic>
        <p:nvPicPr>
          <p:cNvPr id="4" name="Google Shape;26;p11">
            <a:extLst>
              <a:ext uri="{FF2B5EF4-FFF2-40B4-BE49-F238E27FC236}">
                <a16:creationId xmlns:a16="http://schemas.microsoft.com/office/drawing/2014/main" id="{20EB6DBE-8710-0B05-6C7B-7EDD18736FD9}"/>
              </a:ext>
            </a:extLst>
          </p:cNvPr>
          <p:cNvPicPr preferRelativeResize="0"/>
          <p:nvPr userDrawn="1"/>
        </p:nvPicPr>
        <p:blipFill rotWithShape="1">
          <a:blip r:embed="rId4">
            <a:alphaModFix/>
          </a:blip>
          <a:srcRect/>
          <a:stretch/>
        </p:blipFill>
        <p:spPr>
          <a:xfrm>
            <a:off x="336408" y="1164621"/>
            <a:ext cx="2034256" cy="1437508"/>
          </a:xfrm>
          <a:prstGeom prst="rect">
            <a:avLst/>
          </a:prstGeom>
          <a:noFill/>
          <a:ln>
            <a:noFill/>
          </a:ln>
        </p:spPr>
      </p:pic>
      <p:pic>
        <p:nvPicPr>
          <p:cNvPr id="6" name="Google Shape;27;p11">
            <a:extLst>
              <a:ext uri="{FF2B5EF4-FFF2-40B4-BE49-F238E27FC236}">
                <a16:creationId xmlns:a16="http://schemas.microsoft.com/office/drawing/2014/main" id="{C51731A5-E9BE-2860-17E7-3D3A5305E66A}"/>
              </a:ext>
            </a:extLst>
          </p:cNvPr>
          <p:cNvPicPr preferRelativeResize="0"/>
          <p:nvPr userDrawn="1"/>
        </p:nvPicPr>
        <p:blipFill rotWithShape="1">
          <a:blip r:embed="rId5">
            <a:alphaModFix/>
          </a:blip>
          <a:srcRect/>
          <a:stretch/>
        </p:blipFill>
        <p:spPr>
          <a:xfrm>
            <a:off x="2591006" y="1554776"/>
            <a:ext cx="1552668" cy="648767"/>
          </a:xfrm>
          <a:prstGeom prst="rect">
            <a:avLst/>
          </a:prstGeom>
          <a:noFill/>
          <a:ln>
            <a:noFill/>
          </a:ln>
        </p:spPr>
      </p:pic>
      <p:pic>
        <p:nvPicPr>
          <p:cNvPr id="9" name="Google Shape;29;p11">
            <a:extLst>
              <a:ext uri="{FF2B5EF4-FFF2-40B4-BE49-F238E27FC236}">
                <a16:creationId xmlns:a16="http://schemas.microsoft.com/office/drawing/2014/main" id="{F08086F9-5DEE-A121-9213-98B1B78BD4FC}"/>
              </a:ext>
            </a:extLst>
          </p:cNvPr>
          <p:cNvPicPr preferRelativeResize="0"/>
          <p:nvPr userDrawn="1"/>
        </p:nvPicPr>
        <p:blipFill rotWithShape="1">
          <a:blip r:embed="rId6">
            <a:alphaModFix/>
          </a:blip>
          <a:srcRect/>
          <a:stretch/>
        </p:blipFill>
        <p:spPr>
          <a:xfrm>
            <a:off x="508009" y="2676514"/>
            <a:ext cx="2278958" cy="606327"/>
          </a:xfrm>
          <a:prstGeom prst="rect">
            <a:avLst/>
          </a:prstGeom>
          <a:noFill/>
          <a:ln>
            <a:noFill/>
          </a:ln>
        </p:spPr>
      </p:pic>
      <p:pic>
        <p:nvPicPr>
          <p:cNvPr id="10" name="Google Shape;30;p11">
            <a:extLst>
              <a:ext uri="{FF2B5EF4-FFF2-40B4-BE49-F238E27FC236}">
                <a16:creationId xmlns:a16="http://schemas.microsoft.com/office/drawing/2014/main" id="{ADD9A75E-4B3A-AEE4-786B-3FDE8244B0A3}"/>
              </a:ext>
            </a:extLst>
          </p:cNvPr>
          <p:cNvPicPr preferRelativeResize="0"/>
          <p:nvPr userDrawn="1"/>
        </p:nvPicPr>
        <p:blipFill rotWithShape="1">
          <a:blip r:embed="rId7">
            <a:alphaModFix/>
          </a:blip>
          <a:srcRect/>
          <a:stretch/>
        </p:blipFill>
        <p:spPr>
          <a:xfrm>
            <a:off x="2691959" y="1132524"/>
            <a:ext cx="2611190" cy="3694306"/>
          </a:xfrm>
          <a:prstGeom prst="rect">
            <a:avLst/>
          </a:prstGeom>
          <a:noFill/>
          <a:ln>
            <a:noFill/>
          </a:ln>
        </p:spPr>
      </p:pic>
      <p:pic>
        <p:nvPicPr>
          <p:cNvPr id="11" name="Google Shape;31;p11">
            <a:extLst>
              <a:ext uri="{FF2B5EF4-FFF2-40B4-BE49-F238E27FC236}">
                <a16:creationId xmlns:a16="http://schemas.microsoft.com/office/drawing/2014/main" id="{BE57E115-207C-57A0-F34F-34626C7F0548}"/>
              </a:ext>
            </a:extLst>
          </p:cNvPr>
          <p:cNvPicPr preferRelativeResize="0"/>
          <p:nvPr userDrawn="1"/>
        </p:nvPicPr>
        <p:blipFill rotWithShape="1">
          <a:blip r:embed="rId8">
            <a:alphaModFix/>
          </a:blip>
          <a:srcRect/>
          <a:stretch/>
        </p:blipFill>
        <p:spPr>
          <a:xfrm>
            <a:off x="2646536" y="5151035"/>
            <a:ext cx="1504307" cy="336785"/>
          </a:xfrm>
          <a:prstGeom prst="rect">
            <a:avLst/>
          </a:prstGeom>
          <a:noFill/>
          <a:ln>
            <a:noFill/>
          </a:ln>
        </p:spPr>
      </p:pic>
      <p:pic>
        <p:nvPicPr>
          <p:cNvPr id="12" name="Google Shape;32;p11">
            <a:extLst>
              <a:ext uri="{FF2B5EF4-FFF2-40B4-BE49-F238E27FC236}">
                <a16:creationId xmlns:a16="http://schemas.microsoft.com/office/drawing/2014/main" id="{EC0B635D-401C-1FFB-631C-65505D5C8FC9}"/>
              </a:ext>
            </a:extLst>
          </p:cNvPr>
          <p:cNvPicPr preferRelativeResize="0"/>
          <p:nvPr userDrawn="1"/>
        </p:nvPicPr>
        <p:blipFill rotWithShape="1">
          <a:blip r:embed="rId9">
            <a:alphaModFix/>
          </a:blip>
          <a:srcRect/>
          <a:stretch/>
        </p:blipFill>
        <p:spPr>
          <a:xfrm>
            <a:off x="8308477" y="2666545"/>
            <a:ext cx="1889840" cy="516557"/>
          </a:xfrm>
          <a:prstGeom prst="rect">
            <a:avLst/>
          </a:prstGeom>
          <a:noFill/>
          <a:ln>
            <a:noFill/>
          </a:ln>
        </p:spPr>
      </p:pic>
      <p:pic>
        <p:nvPicPr>
          <p:cNvPr id="13" name="Google Shape;33;p11">
            <a:extLst>
              <a:ext uri="{FF2B5EF4-FFF2-40B4-BE49-F238E27FC236}">
                <a16:creationId xmlns:a16="http://schemas.microsoft.com/office/drawing/2014/main" id="{66B90468-AB15-48BD-21E5-3BA255E248DA}"/>
              </a:ext>
            </a:extLst>
          </p:cNvPr>
          <p:cNvPicPr preferRelativeResize="0"/>
          <p:nvPr userDrawn="1"/>
        </p:nvPicPr>
        <p:blipFill rotWithShape="1">
          <a:blip r:embed="rId10">
            <a:alphaModFix/>
          </a:blip>
          <a:srcRect/>
          <a:stretch/>
        </p:blipFill>
        <p:spPr>
          <a:xfrm>
            <a:off x="6786710" y="4966430"/>
            <a:ext cx="765268" cy="765268"/>
          </a:xfrm>
          <a:prstGeom prst="rect">
            <a:avLst/>
          </a:prstGeom>
          <a:noFill/>
          <a:ln>
            <a:noFill/>
          </a:ln>
        </p:spPr>
      </p:pic>
      <p:pic>
        <p:nvPicPr>
          <p:cNvPr id="14" name="Google Shape;34;p11">
            <a:extLst>
              <a:ext uri="{FF2B5EF4-FFF2-40B4-BE49-F238E27FC236}">
                <a16:creationId xmlns:a16="http://schemas.microsoft.com/office/drawing/2014/main" id="{312C3861-508B-91A1-F354-203BAC1509BE}"/>
              </a:ext>
            </a:extLst>
          </p:cNvPr>
          <p:cNvPicPr preferRelativeResize="0"/>
          <p:nvPr userDrawn="1"/>
        </p:nvPicPr>
        <p:blipFill rotWithShape="1">
          <a:blip r:embed="rId11">
            <a:alphaModFix/>
          </a:blip>
          <a:srcRect/>
          <a:stretch/>
        </p:blipFill>
        <p:spPr>
          <a:xfrm>
            <a:off x="10547100" y="1273123"/>
            <a:ext cx="1148665" cy="992406"/>
          </a:xfrm>
          <a:prstGeom prst="rect">
            <a:avLst/>
          </a:prstGeom>
          <a:noFill/>
          <a:ln>
            <a:noFill/>
          </a:ln>
        </p:spPr>
      </p:pic>
      <p:pic>
        <p:nvPicPr>
          <p:cNvPr id="15" name="Google Shape;35;p11">
            <a:extLst>
              <a:ext uri="{FF2B5EF4-FFF2-40B4-BE49-F238E27FC236}">
                <a16:creationId xmlns:a16="http://schemas.microsoft.com/office/drawing/2014/main" id="{EECCD2A4-91F8-EA5E-CD58-75FB30D407D1}"/>
              </a:ext>
            </a:extLst>
          </p:cNvPr>
          <p:cNvPicPr preferRelativeResize="0"/>
          <p:nvPr userDrawn="1"/>
        </p:nvPicPr>
        <p:blipFill rotWithShape="1">
          <a:blip r:embed="rId12">
            <a:alphaModFix/>
          </a:blip>
          <a:srcRect/>
          <a:stretch/>
        </p:blipFill>
        <p:spPr>
          <a:xfrm>
            <a:off x="4221203" y="1311057"/>
            <a:ext cx="1479516" cy="1109160"/>
          </a:xfrm>
          <a:prstGeom prst="rect">
            <a:avLst/>
          </a:prstGeom>
          <a:noFill/>
          <a:ln>
            <a:noFill/>
          </a:ln>
        </p:spPr>
      </p:pic>
      <p:pic>
        <p:nvPicPr>
          <p:cNvPr id="16" name="Google Shape;36;p11">
            <a:extLst>
              <a:ext uri="{FF2B5EF4-FFF2-40B4-BE49-F238E27FC236}">
                <a16:creationId xmlns:a16="http://schemas.microsoft.com/office/drawing/2014/main" id="{F573584A-9068-77D1-872C-0BFDEE18C0B3}"/>
              </a:ext>
            </a:extLst>
          </p:cNvPr>
          <p:cNvPicPr preferRelativeResize="0"/>
          <p:nvPr userDrawn="1"/>
        </p:nvPicPr>
        <p:blipFill rotWithShape="1">
          <a:blip r:embed="rId13">
            <a:alphaModFix/>
          </a:blip>
          <a:srcRect/>
          <a:stretch/>
        </p:blipFill>
        <p:spPr>
          <a:xfrm>
            <a:off x="6057380" y="1577401"/>
            <a:ext cx="1551309" cy="577938"/>
          </a:xfrm>
          <a:prstGeom prst="rect">
            <a:avLst/>
          </a:prstGeom>
          <a:noFill/>
          <a:ln>
            <a:noFill/>
          </a:ln>
        </p:spPr>
      </p:pic>
      <p:pic>
        <p:nvPicPr>
          <p:cNvPr id="17" name="Google Shape;37;p11">
            <a:extLst>
              <a:ext uri="{FF2B5EF4-FFF2-40B4-BE49-F238E27FC236}">
                <a16:creationId xmlns:a16="http://schemas.microsoft.com/office/drawing/2014/main" id="{F09B1682-A8C6-10FB-4A13-F6C316E6230A}"/>
              </a:ext>
            </a:extLst>
          </p:cNvPr>
          <p:cNvPicPr preferRelativeResize="0"/>
          <p:nvPr userDrawn="1"/>
        </p:nvPicPr>
        <p:blipFill rotWithShape="1">
          <a:blip r:embed="rId14">
            <a:alphaModFix/>
          </a:blip>
          <a:srcRect/>
          <a:stretch/>
        </p:blipFill>
        <p:spPr>
          <a:xfrm>
            <a:off x="6844329" y="3842535"/>
            <a:ext cx="1725098" cy="586725"/>
          </a:xfrm>
          <a:prstGeom prst="rect">
            <a:avLst/>
          </a:prstGeom>
          <a:noFill/>
          <a:ln>
            <a:noFill/>
          </a:ln>
        </p:spPr>
      </p:pic>
      <p:pic>
        <p:nvPicPr>
          <p:cNvPr id="18" name="Google Shape;38;p11">
            <a:extLst>
              <a:ext uri="{FF2B5EF4-FFF2-40B4-BE49-F238E27FC236}">
                <a16:creationId xmlns:a16="http://schemas.microsoft.com/office/drawing/2014/main" id="{F1386422-0DD6-D57E-D715-9221C9513758}"/>
              </a:ext>
            </a:extLst>
          </p:cNvPr>
          <p:cNvPicPr preferRelativeResize="0"/>
          <p:nvPr userDrawn="1"/>
        </p:nvPicPr>
        <p:blipFill rotWithShape="1">
          <a:blip r:embed="rId15">
            <a:alphaModFix/>
          </a:blip>
          <a:srcRect/>
          <a:stretch/>
        </p:blipFill>
        <p:spPr>
          <a:xfrm>
            <a:off x="704851" y="3862309"/>
            <a:ext cx="2982894" cy="595596"/>
          </a:xfrm>
          <a:prstGeom prst="rect">
            <a:avLst/>
          </a:prstGeom>
          <a:noFill/>
          <a:ln>
            <a:noFill/>
          </a:ln>
        </p:spPr>
      </p:pic>
      <p:pic>
        <p:nvPicPr>
          <p:cNvPr id="20" name="Google Shape;39;p11">
            <a:extLst>
              <a:ext uri="{FF2B5EF4-FFF2-40B4-BE49-F238E27FC236}">
                <a16:creationId xmlns:a16="http://schemas.microsoft.com/office/drawing/2014/main" id="{FB00768E-976B-6DF7-9C99-95749DF22756}"/>
              </a:ext>
            </a:extLst>
          </p:cNvPr>
          <p:cNvPicPr preferRelativeResize="0"/>
          <p:nvPr userDrawn="1"/>
        </p:nvPicPr>
        <p:blipFill rotWithShape="1">
          <a:blip r:embed="rId16">
            <a:alphaModFix/>
          </a:blip>
          <a:srcRect/>
          <a:stretch/>
        </p:blipFill>
        <p:spPr>
          <a:xfrm>
            <a:off x="5372762" y="2520141"/>
            <a:ext cx="2441819" cy="770760"/>
          </a:xfrm>
          <a:prstGeom prst="rect">
            <a:avLst/>
          </a:prstGeom>
          <a:noFill/>
          <a:ln>
            <a:noFill/>
          </a:ln>
        </p:spPr>
      </p:pic>
      <p:pic>
        <p:nvPicPr>
          <p:cNvPr id="22" name="Google Shape;40;p11">
            <a:extLst>
              <a:ext uri="{FF2B5EF4-FFF2-40B4-BE49-F238E27FC236}">
                <a16:creationId xmlns:a16="http://schemas.microsoft.com/office/drawing/2014/main" id="{358CFE44-C5F7-728C-0A40-1849541C4641}"/>
              </a:ext>
            </a:extLst>
          </p:cNvPr>
          <p:cNvPicPr preferRelativeResize="0"/>
          <p:nvPr userDrawn="1"/>
        </p:nvPicPr>
        <p:blipFill rotWithShape="1">
          <a:blip r:embed="rId17">
            <a:alphaModFix/>
          </a:blip>
          <a:srcRect/>
          <a:stretch/>
        </p:blipFill>
        <p:spPr>
          <a:xfrm>
            <a:off x="10732788" y="2543446"/>
            <a:ext cx="701567" cy="870213"/>
          </a:xfrm>
          <a:prstGeom prst="rect">
            <a:avLst/>
          </a:prstGeom>
          <a:noFill/>
          <a:ln>
            <a:noFill/>
          </a:ln>
        </p:spPr>
      </p:pic>
      <p:pic>
        <p:nvPicPr>
          <p:cNvPr id="25" name="Google Shape;41;p11">
            <a:extLst>
              <a:ext uri="{FF2B5EF4-FFF2-40B4-BE49-F238E27FC236}">
                <a16:creationId xmlns:a16="http://schemas.microsoft.com/office/drawing/2014/main" id="{4E893AE5-EB8C-8036-62FA-3743B1F4B778}"/>
              </a:ext>
            </a:extLst>
          </p:cNvPr>
          <p:cNvPicPr preferRelativeResize="0"/>
          <p:nvPr userDrawn="1"/>
        </p:nvPicPr>
        <p:blipFill rotWithShape="1">
          <a:blip r:embed="rId18">
            <a:alphaModFix/>
          </a:blip>
          <a:srcRect/>
          <a:stretch/>
        </p:blipFill>
        <p:spPr>
          <a:xfrm>
            <a:off x="403826" y="4261315"/>
            <a:ext cx="1963769" cy="1718299"/>
          </a:xfrm>
          <a:prstGeom prst="rect">
            <a:avLst/>
          </a:prstGeom>
          <a:noFill/>
          <a:ln>
            <a:noFill/>
          </a:ln>
        </p:spPr>
      </p:pic>
      <p:pic>
        <p:nvPicPr>
          <p:cNvPr id="29" name="Google Shape;42;p11">
            <a:extLst>
              <a:ext uri="{FF2B5EF4-FFF2-40B4-BE49-F238E27FC236}">
                <a16:creationId xmlns:a16="http://schemas.microsoft.com/office/drawing/2014/main" id="{BBC0153E-6CAE-8AC3-AE33-2E5261CE8203}"/>
              </a:ext>
            </a:extLst>
          </p:cNvPr>
          <p:cNvPicPr preferRelativeResize="0"/>
          <p:nvPr userDrawn="1"/>
        </p:nvPicPr>
        <p:blipFill rotWithShape="1">
          <a:blip r:embed="rId19">
            <a:alphaModFix/>
          </a:blip>
          <a:srcRect/>
          <a:stretch/>
        </p:blipFill>
        <p:spPr>
          <a:xfrm>
            <a:off x="4830947" y="4613178"/>
            <a:ext cx="1379790" cy="1471776"/>
          </a:xfrm>
          <a:prstGeom prst="rect">
            <a:avLst/>
          </a:prstGeom>
          <a:noFill/>
          <a:ln>
            <a:noFill/>
          </a:ln>
        </p:spPr>
      </p:pic>
      <p:pic>
        <p:nvPicPr>
          <p:cNvPr id="32" name="Google Shape;43;p11">
            <a:extLst>
              <a:ext uri="{FF2B5EF4-FFF2-40B4-BE49-F238E27FC236}">
                <a16:creationId xmlns:a16="http://schemas.microsoft.com/office/drawing/2014/main" id="{95C98835-AE13-F087-E1F5-B80E5D0B15B3}"/>
              </a:ext>
            </a:extLst>
          </p:cNvPr>
          <p:cNvPicPr preferRelativeResize="0"/>
          <p:nvPr userDrawn="1"/>
        </p:nvPicPr>
        <p:blipFill rotWithShape="1">
          <a:blip r:embed="rId20">
            <a:alphaModFix/>
          </a:blip>
          <a:srcRect/>
          <a:stretch/>
        </p:blipFill>
        <p:spPr>
          <a:xfrm>
            <a:off x="4502459" y="3513825"/>
            <a:ext cx="1880538" cy="1239306"/>
          </a:xfrm>
          <a:prstGeom prst="rect">
            <a:avLst/>
          </a:prstGeom>
          <a:noFill/>
          <a:ln>
            <a:noFill/>
          </a:ln>
        </p:spPr>
      </p:pic>
      <p:pic>
        <p:nvPicPr>
          <p:cNvPr id="33" name="Google Shape;44;p11">
            <a:extLst>
              <a:ext uri="{FF2B5EF4-FFF2-40B4-BE49-F238E27FC236}">
                <a16:creationId xmlns:a16="http://schemas.microsoft.com/office/drawing/2014/main" id="{0D89175D-7B73-9407-D5B5-505B18B57FEB}"/>
              </a:ext>
            </a:extLst>
          </p:cNvPr>
          <p:cNvPicPr preferRelativeResize="0"/>
          <p:nvPr userDrawn="1"/>
        </p:nvPicPr>
        <p:blipFill rotWithShape="1">
          <a:blip r:embed="rId21">
            <a:alphaModFix/>
          </a:blip>
          <a:srcRect/>
          <a:stretch/>
        </p:blipFill>
        <p:spPr>
          <a:xfrm>
            <a:off x="9634190" y="3885842"/>
            <a:ext cx="1825820" cy="511230"/>
          </a:xfrm>
          <a:prstGeom prst="rect">
            <a:avLst/>
          </a:prstGeom>
          <a:noFill/>
          <a:ln>
            <a:noFill/>
          </a:ln>
        </p:spPr>
      </p:pic>
      <p:pic>
        <p:nvPicPr>
          <p:cNvPr id="39" name="Google Shape;45;p11">
            <a:extLst>
              <a:ext uri="{FF2B5EF4-FFF2-40B4-BE49-F238E27FC236}">
                <a16:creationId xmlns:a16="http://schemas.microsoft.com/office/drawing/2014/main" id="{648AA77D-3213-916A-55F4-C3C697F914F8}"/>
              </a:ext>
            </a:extLst>
          </p:cNvPr>
          <p:cNvPicPr preferRelativeResize="0"/>
          <p:nvPr userDrawn="1"/>
        </p:nvPicPr>
        <p:blipFill rotWithShape="1">
          <a:blip r:embed="rId22">
            <a:alphaModFix/>
          </a:blip>
          <a:srcRect/>
          <a:stretch/>
        </p:blipFill>
        <p:spPr>
          <a:xfrm>
            <a:off x="8389778" y="4613178"/>
            <a:ext cx="1255418" cy="1255418"/>
          </a:xfrm>
          <a:prstGeom prst="rect">
            <a:avLst/>
          </a:prstGeom>
          <a:noFill/>
          <a:ln>
            <a:noFill/>
          </a:ln>
        </p:spPr>
      </p:pic>
      <p:pic>
        <p:nvPicPr>
          <p:cNvPr id="3" name="Graphic 2">
            <a:extLst>
              <a:ext uri="{FF2B5EF4-FFF2-40B4-BE49-F238E27FC236}">
                <a16:creationId xmlns:a16="http://schemas.microsoft.com/office/drawing/2014/main" id="{F4D0CCFC-07F9-49CF-6473-7B23C9E6024B}"/>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7996320" y="1406632"/>
            <a:ext cx="1987469" cy="97767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Само заглавие">
  <p:cSld name="Comparison">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628650" y="365126"/>
            <a:ext cx="11271250" cy="71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13F33"/>
              </a:buClr>
              <a:buSzPts val="3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9" name="Google Shape;49;p12"/>
          <p:cNvSpPr/>
          <p:nvPr/>
        </p:nvSpPr>
        <p:spPr>
          <a:xfrm>
            <a:off x="1924701" y="2049656"/>
            <a:ext cx="1258876" cy="1258876"/>
          </a:xfrm>
          <a:prstGeom prst="ellipse">
            <a:avLst/>
          </a:prstGeom>
          <a:solidFill>
            <a:srgbClr val="3CBB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0" name="Google Shape;50;p12"/>
          <p:cNvSpPr txBox="1">
            <a:spLocks noGrp="1"/>
          </p:cNvSpPr>
          <p:nvPr>
            <p:ph type="body" idx="1"/>
          </p:nvPr>
        </p:nvSpPr>
        <p:spPr>
          <a:xfrm>
            <a:off x="1082566" y="3443473"/>
            <a:ext cx="2906739" cy="524256"/>
          </a:xfrm>
          <a:prstGeom prst="rect">
            <a:avLst/>
          </a:prstGeom>
          <a:noFill/>
          <a:ln>
            <a:noFill/>
          </a:ln>
        </p:spPr>
        <p:txBody>
          <a:bodyPr spcFirstLastPara="1" wrap="square" lIns="0" tIns="0" rIns="91425" bIns="45700" anchor="t" anchorCtr="0">
            <a:normAutofit/>
          </a:bodyPr>
          <a:lstStyle>
            <a:lvl1pPr marL="457200" lvl="0" indent="-228600" algn="ctr">
              <a:lnSpc>
                <a:spcPct val="90000"/>
              </a:lnSpc>
              <a:spcBef>
                <a:spcPts val="1000"/>
              </a:spcBef>
              <a:spcAft>
                <a:spcPts val="0"/>
              </a:spcAft>
              <a:buClr>
                <a:schemeClr val="dk1"/>
              </a:buClr>
              <a:buSzPts val="1600"/>
              <a:buNone/>
              <a:defRPr sz="1800" b="1"/>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1" name="Google Shape;51;p12"/>
          <p:cNvSpPr txBox="1">
            <a:spLocks noGrp="1"/>
          </p:cNvSpPr>
          <p:nvPr>
            <p:ph type="body" idx="2"/>
          </p:nvPr>
        </p:nvSpPr>
        <p:spPr>
          <a:xfrm>
            <a:off x="1082566" y="4102670"/>
            <a:ext cx="2906739" cy="177657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1600"/>
              <a:buNone/>
              <a:defRPr sz="1600" b="0"/>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2" name="Google Shape;52;p12"/>
          <p:cNvSpPr/>
          <p:nvPr/>
        </p:nvSpPr>
        <p:spPr>
          <a:xfrm>
            <a:off x="5475663" y="2049656"/>
            <a:ext cx="1258876" cy="1258876"/>
          </a:xfrm>
          <a:prstGeom prst="ellipse">
            <a:avLst/>
          </a:prstGeom>
          <a:solidFill>
            <a:srgbClr val="3CBB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 name="Google Shape;53;p12"/>
          <p:cNvSpPr txBox="1">
            <a:spLocks noGrp="1"/>
          </p:cNvSpPr>
          <p:nvPr>
            <p:ph type="body" idx="3"/>
          </p:nvPr>
        </p:nvSpPr>
        <p:spPr>
          <a:xfrm>
            <a:off x="4642630" y="3443473"/>
            <a:ext cx="2906739" cy="524256"/>
          </a:xfrm>
          <a:prstGeom prst="rect">
            <a:avLst/>
          </a:prstGeom>
          <a:noFill/>
          <a:ln>
            <a:noFill/>
          </a:ln>
        </p:spPr>
        <p:txBody>
          <a:bodyPr spcFirstLastPara="1" wrap="square" lIns="0" tIns="0" rIns="91425" bIns="45700" anchor="t" anchorCtr="0">
            <a:normAutofit/>
          </a:bodyPr>
          <a:lstStyle>
            <a:lvl1pPr marL="457200" lvl="0" indent="-228600" algn="ctr">
              <a:lnSpc>
                <a:spcPct val="90000"/>
              </a:lnSpc>
              <a:spcBef>
                <a:spcPts val="1000"/>
              </a:spcBef>
              <a:spcAft>
                <a:spcPts val="0"/>
              </a:spcAft>
              <a:buClr>
                <a:schemeClr val="dk1"/>
              </a:buClr>
              <a:buSzPts val="1600"/>
              <a:buNone/>
              <a:defRPr sz="1800" b="1"/>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2"/>
          <p:cNvSpPr txBox="1">
            <a:spLocks noGrp="1"/>
          </p:cNvSpPr>
          <p:nvPr>
            <p:ph type="body" idx="4"/>
          </p:nvPr>
        </p:nvSpPr>
        <p:spPr>
          <a:xfrm>
            <a:off x="4642630" y="4102670"/>
            <a:ext cx="2906739" cy="177657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1600"/>
              <a:buNone/>
              <a:defRPr sz="1600" b="0"/>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5" name="Google Shape;55;p12"/>
          <p:cNvSpPr/>
          <p:nvPr/>
        </p:nvSpPr>
        <p:spPr>
          <a:xfrm>
            <a:off x="9026626" y="2070254"/>
            <a:ext cx="1258876" cy="1258876"/>
          </a:xfrm>
          <a:prstGeom prst="ellipse">
            <a:avLst/>
          </a:prstGeom>
          <a:solidFill>
            <a:srgbClr val="3CBB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6" name="Google Shape;56;p12"/>
          <p:cNvSpPr txBox="1">
            <a:spLocks noGrp="1"/>
          </p:cNvSpPr>
          <p:nvPr>
            <p:ph type="body" idx="5"/>
          </p:nvPr>
        </p:nvSpPr>
        <p:spPr>
          <a:xfrm>
            <a:off x="8202694" y="3443473"/>
            <a:ext cx="2906739" cy="524256"/>
          </a:xfrm>
          <a:prstGeom prst="rect">
            <a:avLst/>
          </a:prstGeom>
          <a:noFill/>
          <a:ln>
            <a:noFill/>
          </a:ln>
        </p:spPr>
        <p:txBody>
          <a:bodyPr spcFirstLastPara="1" wrap="square" lIns="0" tIns="0" rIns="91425" bIns="45700" anchor="t" anchorCtr="0">
            <a:normAutofit/>
          </a:bodyPr>
          <a:lstStyle>
            <a:lvl1pPr marL="457200" lvl="0" indent="-228600" algn="ctr">
              <a:lnSpc>
                <a:spcPct val="90000"/>
              </a:lnSpc>
              <a:spcBef>
                <a:spcPts val="1000"/>
              </a:spcBef>
              <a:spcAft>
                <a:spcPts val="0"/>
              </a:spcAft>
              <a:buClr>
                <a:schemeClr val="dk1"/>
              </a:buClr>
              <a:buSzPts val="1600"/>
              <a:buNone/>
              <a:defRPr sz="1800" b="1"/>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7" name="Google Shape;57;p12"/>
          <p:cNvSpPr txBox="1">
            <a:spLocks noGrp="1"/>
          </p:cNvSpPr>
          <p:nvPr>
            <p:ph type="body" idx="6"/>
          </p:nvPr>
        </p:nvSpPr>
        <p:spPr>
          <a:xfrm>
            <a:off x="8202694" y="4102670"/>
            <a:ext cx="2906739" cy="177657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1600"/>
              <a:buNone/>
              <a:defRPr sz="1600" b="0"/>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 name="Google Shape;24;p11">
            <a:extLst>
              <a:ext uri="{FF2B5EF4-FFF2-40B4-BE49-F238E27FC236}">
                <a16:creationId xmlns:a16="http://schemas.microsoft.com/office/drawing/2014/main" id="{C5374484-7063-B3EC-9316-772E2EA1215C}"/>
              </a:ext>
            </a:extLst>
          </p:cNvPr>
          <p:cNvPicPr preferRelativeResize="0"/>
          <p:nvPr userDrawn="1"/>
        </p:nvPicPr>
        <p:blipFill rotWithShape="1">
          <a:blip r:embed="rId2">
            <a:alphaModFix/>
          </a:blip>
          <a:srcRect/>
          <a:stretch/>
        </p:blipFill>
        <p:spPr>
          <a:xfrm>
            <a:off x="10547100" y="6233087"/>
            <a:ext cx="1351689" cy="468883"/>
          </a:xfrm>
          <a:prstGeom prst="rect">
            <a:avLst/>
          </a:prstGeom>
          <a:noFill/>
          <a:ln>
            <a:noFill/>
          </a:ln>
        </p:spPr>
      </p:pic>
      <p:pic>
        <p:nvPicPr>
          <p:cNvPr id="3" name="Google Shape;46;p11">
            <a:extLst>
              <a:ext uri="{FF2B5EF4-FFF2-40B4-BE49-F238E27FC236}">
                <a16:creationId xmlns:a16="http://schemas.microsoft.com/office/drawing/2014/main" id="{81EAD793-A020-243C-427F-76BD1B835FDC}"/>
              </a:ext>
            </a:extLst>
          </p:cNvPr>
          <p:cNvPicPr preferRelativeResize="0"/>
          <p:nvPr userDrawn="1"/>
        </p:nvPicPr>
        <p:blipFill rotWithShape="1">
          <a:blip r:embed="rId3">
            <a:alphaModFix/>
          </a:blip>
          <a:srcRect/>
          <a:stretch/>
        </p:blipFill>
        <p:spPr>
          <a:xfrm>
            <a:off x="293211" y="6306999"/>
            <a:ext cx="1530350" cy="32106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Празен">
  <p:cSld name="Section Header">
    <p:spTree>
      <p:nvGrpSpPr>
        <p:cNvPr id="1" name="Shape 60"/>
        <p:cNvGrpSpPr/>
        <p:nvPr/>
      </p:nvGrpSpPr>
      <p:grpSpPr>
        <a:xfrm>
          <a:off x="0" y="0"/>
          <a:ext cx="0" cy="0"/>
          <a:chOff x="0" y="0"/>
          <a:chExt cx="0" cy="0"/>
        </a:xfrm>
      </p:grpSpPr>
      <p:pic>
        <p:nvPicPr>
          <p:cNvPr id="61" name="Google Shape;61;p1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2" name="Google Shape;62;p13"/>
          <p:cNvSpPr txBox="1">
            <a:spLocks noGrp="1"/>
          </p:cNvSpPr>
          <p:nvPr>
            <p:ph type="title"/>
          </p:nvPr>
        </p:nvSpPr>
        <p:spPr>
          <a:xfrm>
            <a:off x="2009298" y="2622550"/>
            <a:ext cx="8173403" cy="1612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4400"/>
              <a:buFont typeface="Century Gothic"/>
              <a:buNone/>
              <a:defRPr sz="44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Заглавие и съдържание">
  <p:cSld name="1_Заглавие и съдържание">
    <p:spTree>
      <p:nvGrpSpPr>
        <p:cNvPr id="1" name="Shape 63"/>
        <p:cNvGrpSpPr/>
        <p:nvPr/>
      </p:nvGrpSpPr>
      <p:grpSpPr>
        <a:xfrm>
          <a:off x="0" y="0"/>
          <a:ext cx="0" cy="0"/>
          <a:chOff x="0" y="0"/>
          <a:chExt cx="0" cy="0"/>
        </a:xfrm>
      </p:grpSpPr>
      <p:pic>
        <p:nvPicPr>
          <p:cNvPr id="64" name="Google Shape;64;p1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5" name="Google Shape;65;p14"/>
          <p:cNvSpPr txBox="1">
            <a:spLocks noGrp="1"/>
          </p:cNvSpPr>
          <p:nvPr>
            <p:ph type="title"/>
          </p:nvPr>
        </p:nvSpPr>
        <p:spPr>
          <a:xfrm>
            <a:off x="628650" y="546101"/>
            <a:ext cx="6454902" cy="71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13F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6" name="Google Shape;66;p14"/>
          <p:cNvSpPr txBox="1">
            <a:spLocks noGrp="1"/>
          </p:cNvSpPr>
          <p:nvPr>
            <p:ph type="body" idx="1"/>
          </p:nvPr>
        </p:nvSpPr>
        <p:spPr>
          <a:xfrm>
            <a:off x="628650" y="1404710"/>
            <a:ext cx="6454902" cy="47548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3CBB54"/>
              </a:buClr>
              <a:buSzPts val="2800"/>
              <a:buFont typeface="Arial"/>
              <a:buChar char="•"/>
              <a:defRPr sz="2000">
                <a:solidFill>
                  <a:schemeClr val="tx1">
                    <a:lumMod val="85000"/>
                    <a:lumOff val="15000"/>
                  </a:schemeClr>
                </a:solidFill>
              </a:defRPr>
            </a:lvl1pPr>
            <a:lvl2pPr marL="914400" lvl="1" indent="-381000" algn="l">
              <a:lnSpc>
                <a:spcPct val="90000"/>
              </a:lnSpc>
              <a:spcBef>
                <a:spcPts val="500"/>
              </a:spcBef>
              <a:spcAft>
                <a:spcPts val="0"/>
              </a:spcAft>
              <a:buClr>
                <a:srgbClr val="3CBB54"/>
              </a:buClr>
              <a:buSzPts val="2400"/>
              <a:buFont typeface="Arial"/>
              <a:buChar char="•"/>
              <a:defRPr/>
            </a:lvl2pPr>
            <a:lvl3pPr marL="1371600" lvl="2" indent="-355600" algn="l">
              <a:lnSpc>
                <a:spcPct val="90000"/>
              </a:lnSpc>
              <a:spcBef>
                <a:spcPts val="500"/>
              </a:spcBef>
              <a:spcAft>
                <a:spcPts val="0"/>
              </a:spcAft>
              <a:buClr>
                <a:srgbClr val="3CBB54"/>
              </a:buClr>
              <a:buSzPts val="2000"/>
              <a:buFont typeface="Arial"/>
              <a:buChar char="•"/>
              <a:defRPr/>
            </a:lvl3pPr>
            <a:lvl4pPr marL="1828800" lvl="3" indent="-342900" algn="l">
              <a:lnSpc>
                <a:spcPct val="90000"/>
              </a:lnSpc>
              <a:spcBef>
                <a:spcPts val="500"/>
              </a:spcBef>
              <a:spcAft>
                <a:spcPts val="0"/>
              </a:spcAft>
              <a:buClr>
                <a:srgbClr val="3CBB54"/>
              </a:buClr>
              <a:buSzPts val="1800"/>
              <a:buFont typeface="Arial"/>
              <a:buChar char="•"/>
              <a:defRPr/>
            </a:lvl4pPr>
            <a:lvl5pPr marL="2286000" lvl="4" indent="-342900" algn="l">
              <a:lnSpc>
                <a:spcPct val="90000"/>
              </a:lnSpc>
              <a:spcBef>
                <a:spcPts val="500"/>
              </a:spcBef>
              <a:spcAft>
                <a:spcPts val="0"/>
              </a:spcAft>
              <a:buClr>
                <a:srgbClr val="3CBB54"/>
              </a:buClr>
              <a:buSzPts val="1800"/>
              <a:buFont typeface="Arial"/>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 name="Google Shape;24;p11">
            <a:extLst>
              <a:ext uri="{FF2B5EF4-FFF2-40B4-BE49-F238E27FC236}">
                <a16:creationId xmlns:a16="http://schemas.microsoft.com/office/drawing/2014/main" id="{DE8F4DA2-7420-2ABD-187F-E57C854757E3}"/>
              </a:ext>
            </a:extLst>
          </p:cNvPr>
          <p:cNvPicPr preferRelativeResize="0"/>
          <p:nvPr userDrawn="1"/>
        </p:nvPicPr>
        <p:blipFill>
          <a:blip r:embed="rId3"/>
          <a:srcRect/>
          <a:stretch/>
        </p:blipFill>
        <p:spPr>
          <a:xfrm>
            <a:off x="10547100" y="6233141"/>
            <a:ext cx="1351689" cy="468774"/>
          </a:xfrm>
          <a:prstGeom prst="rect">
            <a:avLst/>
          </a:prstGeom>
          <a:noFill/>
          <a:ln>
            <a:noFill/>
          </a:ln>
        </p:spPr>
      </p:pic>
      <p:pic>
        <p:nvPicPr>
          <p:cNvPr id="3" name="Google Shape;46;p11">
            <a:extLst>
              <a:ext uri="{FF2B5EF4-FFF2-40B4-BE49-F238E27FC236}">
                <a16:creationId xmlns:a16="http://schemas.microsoft.com/office/drawing/2014/main" id="{009FC3C8-8CF9-AC25-D424-17E9EE6856C2}"/>
              </a:ext>
            </a:extLst>
          </p:cNvPr>
          <p:cNvPicPr preferRelativeResize="0"/>
          <p:nvPr userDrawn="1"/>
        </p:nvPicPr>
        <p:blipFill rotWithShape="1">
          <a:blip r:embed="rId4">
            <a:alphaModFix/>
          </a:blip>
          <a:srcRect/>
          <a:stretch/>
        </p:blipFill>
        <p:spPr>
          <a:xfrm>
            <a:off x="293211" y="6306999"/>
            <a:ext cx="1530350" cy="32106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Празен">
  <p:cSld name="1_Празен">
    <p:spTree>
      <p:nvGrpSpPr>
        <p:cNvPr id="1" name="Shape 68"/>
        <p:cNvGrpSpPr/>
        <p:nvPr/>
      </p:nvGrpSpPr>
      <p:grpSpPr>
        <a:xfrm>
          <a:off x="0" y="0"/>
          <a:ext cx="0" cy="0"/>
          <a:chOff x="0" y="0"/>
          <a:chExt cx="0" cy="0"/>
        </a:xfrm>
      </p:grpSpPr>
      <p:pic>
        <p:nvPicPr>
          <p:cNvPr id="69" name="Google Shape;69;p1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0" name="Google Shape;70;p15"/>
          <p:cNvSpPr txBox="1">
            <a:spLocks noGrp="1"/>
          </p:cNvSpPr>
          <p:nvPr>
            <p:ph type="title"/>
          </p:nvPr>
        </p:nvSpPr>
        <p:spPr>
          <a:xfrm>
            <a:off x="509746" y="385106"/>
            <a:ext cx="4144248" cy="23021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6000"/>
              <a:buFont typeface="Century Gothic"/>
              <a:buNone/>
              <a:defRPr sz="60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5"/>
          <p:cNvSpPr txBox="1"/>
          <p:nvPr/>
        </p:nvSpPr>
        <p:spPr>
          <a:xfrm>
            <a:off x="2290850" y="6134340"/>
            <a:ext cx="944693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0" i="0" u="none" strike="noStrike" cap="none">
                <a:solidFill>
                  <a:schemeClr val="lt1"/>
                </a:solidFill>
                <a:latin typeface="Arial"/>
                <a:ea typeface="Arial"/>
                <a:cs typeface="Arial"/>
                <a:sym typeface="Arial"/>
              </a:rPr>
              <a:t>OneSTOP receives funding from the European Union’s Horizon Europe Research and Innovation Programme (ID No 101180559). Views and opinions expressed are those of the author(s) only and do not necessarily reflect those of the European Union or the European Research Executive Agency (REA). Neither the EU nor REA can be held responsible for them.</a:t>
            </a:r>
            <a:endParaRPr sz="800">
              <a:solidFill>
                <a:schemeClr val="lt1"/>
              </a:solidFill>
              <a:latin typeface="Arial"/>
              <a:ea typeface="Arial"/>
              <a:cs typeface="Arial"/>
              <a:sym typeface="Arial"/>
            </a:endParaRPr>
          </a:p>
        </p:txBody>
      </p:sp>
      <p:grpSp>
        <p:nvGrpSpPr>
          <p:cNvPr id="72" name="Google Shape;72;p15"/>
          <p:cNvGrpSpPr/>
          <p:nvPr/>
        </p:nvGrpSpPr>
        <p:grpSpPr>
          <a:xfrm>
            <a:off x="5592982" y="749007"/>
            <a:ext cx="3053412" cy="713718"/>
            <a:chOff x="578063" y="2599713"/>
            <a:chExt cx="3053412" cy="713718"/>
          </a:xfrm>
        </p:grpSpPr>
        <p:sp>
          <p:nvSpPr>
            <p:cNvPr id="73" name="Google Shape;73;p15"/>
            <p:cNvSpPr/>
            <p:nvPr/>
          </p:nvSpPr>
          <p:spPr>
            <a:xfrm>
              <a:off x="578063" y="2599713"/>
              <a:ext cx="713718" cy="71371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4" name="Google Shape;74;p15"/>
            <p:cNvPicPr preferRelativeResize="0"/>
            <p:nvPr/>
          </p:nvPicPr>
          <p:blipFill rotWithShape="1">
            <a:blip r:embed="rId3">
              <a:alphaModFix/>
            </a:blip>
            <a:srcRect/>
            <a:stretch/>
          </p:blipFill>
          <p:spPr>
            <a:xfrm>
              <a:off x="781625" y="2788527"/>
              <a:ext cx="327121" cy="327121"/>
            </a:xfrm>
            <a:prstGeom prst="rect">
              <a:avLst/>
            </a:prstGeom>
            <a:noFill/>
            <a:ln>
              <a:noFill/>
            </a:ln>
          </p:spPr>
        </p:pic>
        <p:sp>
          <p:nvSpPr>
            <p:cNvPr id="75" name="Google Shape;75;p15"/>
            <p:cNvSpPr txBox="1"/>
            <p:nvPr/>
          </p:nvSpPr>
          <p:spPr>
            <a:xfrm>
              <a:off x="1381067" y="2801053"/>
              <a:ext cx="2250408" cy="38531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000"/>
                <a:buFont typeface="Century Gothic"/>
                <a:buNone/>
              </a:pPr>
              <a:r>
                <a:rPr lang="en-US" sz="2000" b="1" u="none" dirty="0" err="1">
                  <a:solidFill>
                    <a:schemeClr val="lt1"/>
                  </a:solidFill>
                  <a:latin typeface="Century Gothic"/>
                  <a:ea typeface="Century Gothic"/>
                  <a:cs typeface="Century Gothic"/>
                  <a:sym typeface="Century Gothic"/>
                </a:rPr>
                <a:t>OneSTOP</a:t>
              </a:r>
              <a:r>
                <a:rPr lang="en-US" sz="2000" b="1" u="none" dirty="0">
                  <a:solidFill>
                    <a:schemeClr val="lt1"/>
                  </a:solidFill>
                  <a:latin typeface="Century Gothic"/>
                  <a:ea typeface="Century Gothic"/>
                  <a:cs typeface="Century Gothic"/>
                  <a:sym typeface="Century Gothic"/>
                </a:rPr>
                <a:t> Project</a:t>
              </a:r>
              <a:endParaRPr sz="2000" b="1" u="none" dirty="0">
                <a:solidFill>
                  <a:schemeClr val="lt1"/>
                </a:solidFill>
                <a:latin typeface="Century Gothic"/>
                <a:ea typeface="Century Gothic"/>
                <a:cs typeface="Century Gothic"/>
                <a:sym typeface="Century Gothic"/>
              </a:endParaRPr>
            </a:p>
          </p:txBody>
        </p:sp>
      </p:grpSp>
      <p:grpSp>
        <p:nvGrpSpPr>
          <p:cNvPr id="76" name="Google Shape;76;p15"/>
          <p:cNvGrpSpPr/>
          <p:nvPr/>
        </p:nvGrpSpPr>
        <p:grpSpPr>
          <a:xfrm>
            <a:off x="9170350" y="738635"/>
            <a:ext cx="2282510" cy="713718"/>
            <a:chOff x="6077715" y="2220619"/>
            <a:chExt cx="2282510" cy="713718"/>
          </a:xfrm>
        </p:grpSpPr>
        <p:sp>
          <p:nvSpPr>
            <p:cNvPr id="77" name="Google Shape;77;p15"/>
            <p:cNvSpPr/>
            <p:nvPr/>
          </p:nvSpPr>
          <p:spPr>
            <a:xfrm>
              <a:off x="6077715" y="2220619"/>
              <a:ext cx="713718" cy="71371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 name="Google Shape;78;p15"/>
            <p:cNvSpPr txBox="1"/>
            <p:nvPr/>
          </p:nvSpPr>
          <p:spPr>
            <a:xfrm>
              <a:off x="6880719" y="2424551"/>
              <a:ext cx="1479506" cy="38531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000"/>
                <a:buFont typeface="Century Gothic"/>
                <a:buNone/>
              </a:pPr>
              <a:r>
                <a:rPr lang="en-US" sz="2000" b="1" u="none" dirty="0" err="1">
                  <a:solidFill>
                    <a:schemeClr val="lt1"/>
                  </a:solidFill>
                  <a:latin typeface="Century Gothic"/>
                  <a:ea typeface="Century Gothic"/>
                  <a:cs typeface="Century Gothic"/>
                  <a:sym typeface="Century Gothic"/>
                </a:rPr>
                <a:t>OneSTOP</a:t>
              </a:r>
              <a:endParaRPr sz="2000" b="1" u="none" dirty="0">
                <a:solidFill>
                  <a:schemeClr val="lt1"/>
                </a:solidFill>
                <a:latin typeface="Century Gothic"/>
                <a:ea typeface="Century Gothic"/>
                <a:cs typeface="Century Gothic"/>
                <a:sym typeface="Century Gothic"/>
              </a:endParaRPr>
            </a:p>
          </p:txBody>
        </p:sp>
        <p:pic>
          <p:nvPicPr>
            <p:cNvPr id="79" name="Google Shape;79;p15"/>
            <p:cNvPicPr preferRelativeResize="0"/>
            <p:nvPr/>
          </p:nvPicPr>
          <p:blipFill rotWithShape="1">
            <a:blip r:embed="rId4">
              <a:alphaModFix/>
            </a:blip>
            <a:srcRect/>
            <a:stretch/>
          </p:blipFill>
          <p:spPr>
            <a:xfrm>
              <a:off x="6247044" y="2413432"/>
              <a:ext cx="378016" cy="333494"/>
            </a:xfrm>
            <a:prstGeom prst="rect">
              <a:avLst/>
            </a:prstGeom>
            <a:noFill/>
            <a:ln>
              <a:noFill/>
            </a:ln>
          </p:spPr>
        </p:pic>
      </p:grpSp>
      <p:pic>
        <p:nvPicPr>
          <p:cNvPr id="80" name="Google Shape;80;p15"/>
          <p:cNvPicPr preferRelativeResize="0"/>
          <p:nvPr/>
        </p:nvPicPr>
        <p:blipFill rotWithShape="1">
          <a:blip r:embed="rId5">
            <a:alphaModFix/>
          </a:blip>
          <a:srcRect/>
          <a:stretch/>
        </p:blipFill>
        <p:spPr>
          <a:xfrm>
            <a:off x="459377" y="6110958"/>
            <a:ext cx="1836640" cy="38531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Две съдържания">
  <p:cSld name="Two Content">
    <p:spTree>
      <p:nvGrpSpPr>
        <p:cNvPr id="1" name="Shape 81"/>
        <p:cNvGrpSpPr/>
        <p:nvPr/>
      </p:nvGrpSpPr>
      <p:grpSpPr>
        <a:xfrm>
          <a:off x="0" y="0"/>
          <a:ext cx="0" cy="0"/>
          <a:chOff x="0" y="0"/>
          <a:chExt cx="0" cy="0"/>
        </a:xfrm>
      </p:grpSpPr>
      <p:sp>
        <p:nvSpPr>
          <p:cNvPr id="82" name="Google Shape;82;p16"/>
          <p:cNvSpPr txBox="1">
            <a:spLocks noGrp="1"/>
          </p:cNvSpPr>
          <p:nvPr>
            <p:ph idx="1"/>
          </p:nvPr>
        </p:nvSpPr>
        <p:spPr>
          <a:xfrm>
            <a:off x="628650" y="1323976"/>
            <a:ext cx="5381625" cy="47548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3CBB54"/>
              </a:buClr>
              <a:buSzPts val="2800"/>
              <a:buChar char="•"/>
              <a:defRPr sz="2400">
                <a:solidFill>
                  <a:schemeClr val="tx1">
                    <a:lumMod val="85000"/>
                    <a:lumOff val="15000"/>
                  </a:schemeClr>
                </a:solidFill>
              </a:defRPr>
            </a:lvl1pPr>
            <a:lvl2pPr marL="914400" lvl="1" indent="-381000" algn="l">
              <a:lnSpc>
                <a:spcPct val="90000"/>
              </a:lnSpc>
              <a:spcBef>
                <a:spcPts val="500"/>
              </a:spcBef>
              <a:spcAft>
                <a:spcPts val="0"/>
              </a:spcAft>
              <a:buClr>
                <a:srgbClr val="3CBB54"/>
              </a:buClr>
              <a:buSzPts val="2400"/>
              <a:buChar char="•"/>
              <a:defRPr/>
            </a:lvl2pPr>
            <a:lvl3pPr marL="1371600" lvl="2" indent="-355600" algn="l">
              <a:lnSpc>
                <a:spcPct val="90000"/>
              </a:lnSpc>
              <a:spcBef>
                <a:spcPts val="500"/>
              </a:spcBef>
              <a:spcAft>
                <a:spcPts val="0"/>
              </a:spcAft>
              <a:buClr>
                <a:srgbClr val="3CBB54"/>
              </a:buClr>
              <a:buSzPts val="2000"/>
              <a:buChar char="•"/>
              <a:defRPr/>
            </a:lvl3pPr>
            <a:lvl4pPr marL="1828800" lvl="3" indent="-342900" algn="l">
              <a:lnSpc>
                <a:spcPct val="90000"/>
              </a:lnSpc>
              <a:spcBef>
                <a:spcPts val="500"/>
              </a:spcBef>
              <a:spcAft>
                <a:spcPts val="0"/>
              </a:spcAft>
              <a:buClr>
                <a:srgbClr val="3CBB54"/>
              </a:buClr>
              <a:buSzPts val="1800"/>
              <a:buChar char="•"/>
              <a:defRPr/>
            </a:lvl4pPr>
            <a:lvl5pPr marL="2286000" lvl="4" indent="-342900" algn="l">
              <a:lnSpc>
                <a:spcPct val="90000"/>
              </a:lnSpc>
              <a:spcBef>
                <a:spcPts val="500"/>
              </a:spcBef>
              <a:spcAft>
                <a:spcPts val="0"/>
              </a:spcAft>
              <a:buClr>
                <a:srgbClr val="3CBB5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83" name="Google Shape;83;p16"/>
          <p:cNvSpPr txBox="1">
            <a:spLocks noGrp="1"/>
          </p:cNvSpPr>
          <p:nvPr>
            <p:ph type="ftr" idx="11"/>
          </p:nvPr>
        </p:nvSpPr>
        <p:spPr>
          <a:xfrm>
            <a:off x="2762249" y="6356350"/>
            <a:ext cx="739711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6"/>
          <p:cNvSpPr txBox="1">
            <a:spLocks noGrp="1"/>
          </p:cNvSpPr>
          <p:nvPr>
            <p:ph type="title"/>
          </p:nvPr>
        </p:nvSpPr>
        <p:spPr>
          <a:xfrm>
            <a:off x="628650" y="365126"/>
            <a:ext cx="11271250" cy="71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13F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85" name="Google Shape;85;p16"/>
          <p:cNvSpPr txBox="1">
            <a:spLocks noGrp="1"/>
          </p:cNvSpPr>
          <p:nvPr>
            <p:ph idx="2"/>
          </p:nvPr>
        </p:nvSpPr>
        <p:spPr>
          <a:xfrm>
            <a:off x="6518275" y="1323976"/>
            <a:ext cx="5381625" cy="47548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3CBB54"/>
              </a:buClr>
              <a:buSzPts val="2800"/>
              <a:buChar char="•"/>
              <a:defRPr sz="2400">
                <a:solidFill>
                  <a:schemeClr val="tx1">
                    <a:lumMod val="85000"/>
                    <a:lumOff val="15000"/>
                  </a:schemeClr>
                </a:solidFill>
              </a:defRPr>
            </a:lvl1pPr>
            <a:lvl2pPr marL="914400" lvl="1" indent="-381000" algn="l">
              <a:lnSpc>
                <a:spcPct val="90000"/>
              </a:lnSpc>
              <a:spcBef>
                <a:spcPts val="500"/>
              </a:spcBef>
              <a:spcAft>
                <a:spcPts val="0"/>
              </a:spcAft>
              <a:buClr>
                <a:srgbClr val="3CBB54"/>
              </a:buClr>
              <a:buSzPts val="2400"/>
              <a:buChar char="•"/>
              <a:defRPr/>
            </a:lvl2pPr>
            <a:lvl3pPr marL="1371600" lvl="2" indent="-355600" algn="l">
              <a:lnSpc>
                <a:spcPct val="90000"/>
              </a:lnSpc>
              <a:spcBef>
                <a:spcPts val="500"/>
              </a:spcBef>
              <a:spcAft>
                <a:spcPts val="0"/>
              </a:spcAft>
              <a:buClr>
                <a:srgbClr val="3CBB54"/>
              </a:buClr>
              <a:buSzPts val="2000"/>
              <a:buChar char="•"/>
              <a:defRPr/>
            </a:lvl3pPr>
            <a:lvl4pPr marL="1828800" lvl="3" indent="-342900" algn="l">
              <a:lnSpc>
                <a:spcPct val="90000"/>
              </a:lnSpc>
              <a:spcBef>
                <a:spcPts val="500"/>
              </a:spcBef>
              <a:spcAft>
                <a:spcPts val="0"/>
              </a:spcAft>
              <a:buClr>
                <a:srgbClr val="3CBB54"/>
              </a:buClr>
              <a:buSzPts val="1800"/>
              <a:buChar char="•"/>
              <a:defRPr/>
            </a:lvl4pPr>
            <a:lvl5pPr marL="2286000" lvl="4" indent="-342900" algn="l">
              <a:lnSpc>
                <a:spcPct val="90000"/>
              </a:lnSpc>
              <a:spcBef>
                <a:spcPts val="500"/>
              </a:spcBef>
              <a:spcAft>
                <a:spcPts val="0"/>
              </a:spcAft>
              <a:buClr>
                <a:srgbClr val="3CBB5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86" name="Google Shape;86;p16"/>
          <p:cNvPicPr preferRelativeResize="0"/>
          <p:nvPr/>
        </p:nvPicPr>
        <p:blipFill rotWithShape="1">
          <a:blip r:embed="rId2">
            <a:alphaModFix/>
          </a:blip>
          <a:srcRect/>
          <a:stretch/>
        </p:blipFill>
        <p:spPr>
          <a:xfrm>
            <a:off x="10547100" y="6294438"/>
            <a:ext cx="1351689" cy="468883"/>
          </a:xfrm>
          <a:prstGeom prst="rect">
            <a:avLst/>
          </a:prstGeom>
          <a:noFill/>
          <a:ln>
            <a:noFill/>
          </a:ln>
        </p:spPr>
      </p:pic>
      <p:pic>
        <p:nvPicPr>
          <p:cNvPr id="87" name="Google Shape;87;p16"/>
          <p:cNvPicPr preferRelativeResize="0"/>
          <p:nvPr/>
        </p:nvPicPr>
        <p:blipFill rotWithShape="1">
          <a:blip r:embed="rId3">
            <a:alphaModFix/>
          </a:blip>
          <a:srcRect/>
          <a:stretch/>
        </p:blipFill>
        <p:spPr>
          <a:xfrm>
            <a:off x="610722" y="6380301"/>
            <a:ext cx="1530350" cy="32106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Само заглавие">
  <p:cSld name="Blank">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628650" y="365126"/>
            <a:ext cx="11271250" cy="71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13F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0" name="Google Shape;90;p17"/>
          <p:cNvPicPr preferRelativeResize="0"/>
          <p:nvPr/>
        </p:nvPicPr>
        <p:blipFill rotWithShape="1">
          <a:blip r:embed="rId2">
            <a:alphaModFix/>
          </a:blip>
          <a:srcRect/>
          <a:stretch/>
        </p:blipFill>
        <p:spPr>
          <a:xfrm>
            <a:off x="10547100" y="6294438"/>
            <a:ext cx="1351689" cy="468883"/>
          </a:xfrm>
          <a:prstGeom prst="rect">
            <a:avLst/>
          </a:prstGeom>
          <a:noFill/>
          <a:ln>
            <a:noFill/>
          </a:ln>
        </p:spPr>
      </p:pic>
      <p:pic>
        <p:nvPicPr>
          <p:cNvPr id="91" name="Google Shape;91;p17"/>
          <p:cNvPicPr preferRelativeResize="0"/>
          <p:nvPr/>
        </p:nvPicPr>
        <p:blipFill rotWithShape="1">
          <a:blip r:embed="rId3">
            <a:alphaModFix/>
          </a:blip>
          <a:srcRect/>
          <a:stretch/>
        </p:blipFill>
        <p:spPr>
          <a:xfrm>
            <a:off x="610722" y="6380301"/>
            <a:ext cx="1530350" cy="32106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Съдържание с надпис" type="objTx">
  <p:cSld name="Content with Caption">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13F33"/>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8"/>
          <p:cNvSpPr txBox="1">
            <a:spLocks noGrp="1"/>
          </p:cNvSpPr>
          <p:nvPr>
            <p:ph type="body" idx="1"/>
          </p:nvPr>
        </p:nvSpPr>
        <p:spPr>
          <a:xfrm>
            <a:off x="5021580" y="457201"/>
            <a:ext cx="6804660"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96" name="Google Shape;96;p18"/>
          <p:cNvPicPr preferRelativeResize="0"/>
          <p:nvPr/>
        </p:nvPicPr>
        <p:blipFill rotWithShape="1">
          <a:blip r:embed="rId2">
            <a:alphaModFix/>
          </a:blip>
          <a:srcRect/>
          <a:stretch/>
        </p:blipFill>
        <p:spPr>
          <a:xfrm>
            <a:off x="10547100" y="6294438"/>
            <a:ext cx="1351689" cy="468883"/>
          </a:xfrm>
          <a:prstGeom prst="rect">
            <a:avLst/>
          </a:prstGeom>
          <a:noFill/>
          <a:ln>
            <a:noFill/>
          </a:ln>
        </p:spPr>
      </p:pic>
      <p:pic>
        <p:nvPicPr>
          <p:cNvPr id="97" name="Google Shape;97;p18"/>
          <p:cNvPicPr preferRelativeResize="0"/>
          <p:nvPr/>
        </p:nvPicPr>
        <p:blipFill rotWithShape="1">
          <a:blip r:embed="rId3">
            <a:alphaModFix/>
          </a:blip>
          <a:srcRect/>
          <a:stretch/>
        </p:blipFill>
        <p:spPr>
          <a:xfrm>
            <a:off x="610722" y="6380301"/>
            <a:ext cx="1530350" cy="32106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Картина с надпис" type="picTx">
  <p:cSld name="PICTURE_WITH_CAPTION_TEXT">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13F33"/>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9"/>
          <p:cNvSpPr>
            <a:spLocks noGrp="1"/>
          </p:cNvSpPr>
          <p:nvPr>
            <p:ph type="pic" idx="2"/>
          </p:nvPr>
        </p:nvSpPr>
        <p:spPr>
          <a:xfrm>
            <a:off x="4998720" y="457200"/>
            <a:ext cx="6926580" cy="5411787"/>
          </a:xfrm>
          <a:prstGeom prst="rect">
            <a:avLst/>
          </a:prstGeom>
          <a:noFill/>
          <a:ln>
            <a:noFill/>
          </a:ln>
        </p:spPr>
      </p:sp>
      <p:sp>
        <p:nvSpPr>
          <p:cNvPr id="101" name="Google Shape;101;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02" name="Google Shape;102;p19"/>
          <p:cNvPicPr preferRelativeResize="0"/>
          <p:nvPr/>
        </p:nvPicPr>
        <p:blipFill rotWithShape="1">
          <a:blip r:embed="rId2">
            <a:alphaModFix/>
          </a:blip>
          <a:srcRect/>
          <a:stretch/>
        </p:blipFill>
        <p:spPr>
          <a:xfrm>
            <a:off x="10547100" y="6294438"/>
            <a:ext cx="1351689" cy="468883"/>
          </a:xfrm>
          <a:prstGeom prst="rect">
            <a:avLst/>
          </a:prstGeom>
          <a:noFill/>
          <a:ln>
            <a:noFill/>
          </a:ln>
        </p:spPr>
      </p:pic>
      <p:pic>
        <p:nvPicPr>
          <p:cNvPr id="103" name="Google Shape;103;p19"/>
          <p:cNvPicPr preferRelativeResize="0"/>
          <p:nvPr/>
        </p:nvPicPr>
        <p:blipFill rotWithShape="1">
          <a:blip r:embed="rId3">
            <a:alphaModFix/>
          </a:blip>
          <a:srcRect/>
          <a:stretch/>
        </p:blipFill>
        <p:spPr>
          <a:xfrm>
            <a:off x="610722" y="6380301"/>
            <a:ext cx="1530350" cy="321060"/>
          </a:xfrm>
          <a:prstGeom prst="rect">
            <a:avLst/>
          </a:prstGeom>
          <a:noFill/>
          <a:ln>
            <a:noFill/>
          </a:ln>
        </p:spPr>
      </p:pic>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628650" y="490219"/>
            <a:ext cx="11075670" cy="711200"/>
          </a:xfrm>
          <a:prstGeom prst="rect">
            <a:avLst/>
          </a:prstGeom>
          <a:noFill/>
          <a:ln>
            <a:noFill/>
          </a:ln>
        </p:spPr>
        <p:txBody>
          <a:bodyPr anchor="t" anchorCtr="0" bIns="45700" lIns="0" rIns="0" spcFirstLastPara="1" tIns="45700" wrap="square">
            <a:normAutofit/>
          </a:bodyPr>
          <a:lstStyle>
            <a:lvl1pPr algn="l" lvl="0" marR="0" rtl="0">
              <a:lnSpc>
                <a:spcPct val="90000"/>
              </a:lnSpc>
              <a:spcBef>
                <a:spcPts val="0"/>
              </a:spcBef>
              <a:spcAft>
                <a:spcPts val="0"/>
              </a:spcAft>
              <a:buClr>
                <a:srgbClr val="313F33"/>
              </a:buClr>
              <a:buSzPts val="3200"/>
              <a:buFont typeface="Century Gothic"/>
              <a:buNone/>
              <a:defRPr b="1" cap="none" i="0" strike="noStrike" sz="3200" u="none">
                <a:solidFill>
                  <a:srgbClr val="313F33"/>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7" name="Google Shape;7;p8"/>
          <p:cNvSpPr txBox="1">
            <a:spLocks noGrp="1"/>
          </p:cNvSpPr>
          <p:nvPr>
            <p:ph idx="1" type="body"/>
          </p:nvPr>
        </p:nvSpPr>
        <p:spPr>
          <a:xfrm>
            <a:off x="628650" y="1257301"/>
            <a:ext cx="11075670" cy="4754880"/>
          </a:xfrm>
          <a:prstGeom prst="rect">
            <a:avLst/>
          </a:prstGeom>
          <a:noFill/>
          <a:ln>
            <a:noFill/>
          </a:ln>
        </p:spPr>
        <p:txBody>
          <a:bodyPr anchor="t" anchorCtr="0" bIns="45700" lIns="91425" rIns="91425" spcFirstLastPara="1" tIns="45700" wrap="square">
            <a:normAutofit/>
          </a:bodyPr>
          <a:lstStyle>
            <a:lvl1pPr algn="l" indent="-406400" lvl="0" marL="457200" marR="0" rtl="0">
              <a:lnSpc>
                <a:spcPct val="90000"/>
              </a:lnSpc>
              <a:spcBef>
                <a:spcPts val="1000"/>
              </a:spcBef>
              <a:spcAft>
                <a:spcPts val="0"/>
              </a:spcAft>
              <a:buClr>
                <a:schemeClr val="dk1"/>
              </a:buClr>
              <a:buSzPts val="2800"/>
              <a:buFont typeface="Arial"/>
              <a:buChar char="•"/>
              <a:defRPr b="0" cap="none" i="0" strike="noStrike" sz="2800" u="none">
                <a:solidFill>
                  <a:schemeClr val="dk1"/>
                </a:solidFill>
                <a:latin typeface="Century Gothic"/>
                <a:ea typeface="Century Gothic"/>
                <a:cs typeface="Century Gothic"/>
                <a:sym typeface="Century Gothic"/>
              </a:defRPr>
            </a:lvl1pPr>
            <a:lvl2pPr algn="l" indent="-381000" lvl="1" marL="914400" marR="0" rtl="0">
              <a:lnSpc>
                <a:spcPct val="90000"/>
              </a:lnSpc>
              <a:spcBef>
                <a:spcPts val="500"/>
              </a:spcBef>
              <a:spcAft>
                <a:spcPts val="0"/>
              </a:spcAft>
              <a:buClr>
                <a:schemeClr val="dk1"/>
              </a:buClr>
              <a:buSzPts val="2400"/>
              <a:buFont typeface="Arial"/>
              <a:buChar char="•"/>
              <a:defRPr b="0" cap="none" i="0" strike="noStrike" sz="2400" u="none">
                <a:solidFill>
                  <a:schemeClr val="dk1"/>
                </a:solidFill>
                <a:latin typeface="Century Gothic"/>
                <a:ea typeface="Century Gothic"/>
                <a:cs typeface="Century Gothic"/>
                <a:sym typeface="Century Gothic"/>
              </a:defRPr>
            </a:lvl2pPr>
            <a:lvl3pPr algn="l" indent="-355600" lvl="2" marL="1371600" marR="0" rtl="0">
              <a:lnSpc>
                <a:spcPct val="90000"/>
              </a:lnSpc>
              <a:spcBef>
                <a:spcPts val="500"/>
              </a:spcBef>
              <a:spcAft>
                <a:spcPts val="0"/>
              </a:spcAft>
              <a:buClr>
                <a:schemeClr val="dk1"/>
              </a:buClr>
              <a:buSzPts val="2000"/>
              <a:buFont typeface="Arial"/>
              <a:buChar char="•"/>
              <a:defRPr b="0" cap="none" i="0" strike="noStrike" sz="2000" u="none">
                <a:solidFill>
                  <a:schemeClr val="dk1"/>
                </a:solidFill>
                <a:latin typeface="Century Gothic"/>
                <a:ea typeface="Century Gothic"/>
                <a:cs typeface="Century Gothic"/>
                <a:sym typeface="Century Gothic"/>
              </a:defRPr>
            </a:lvl3pPr>
            <a:lvl4pPr algn="l" indent="-342900" lvl="3" marL="1828800" marR="0" rtl="0">
              <a:lnSpc>
                <a:spcPct val="90000"/>
              </a:lnSpc>
              <a:spcBef>
                <a:spcPts val="500"/>
              </a:spcBef>
              <a:spcAft>
                <a:spcPts val="0"/>
              </a:spcAft>
              <a:buClr>
                <a:schemeClr val="dk1"/>
              </a:buClr>
              <a:buSzPts val="1800"/>
              <a:buFont typeface="Arial"/>
              <a:buChar char="•"/>
              <a:defRPr b="0" cap="none" i="0" strike="noStrike" sz="1800" u="none">
                <a:solidFill>
                  <a:schemeClr val="dk1"/>
                </a:solidFill>
                <a:latin typeface="Century Gothic"/>
                <a:ea typeface="Century Gothic"/>
                <a:cs typeface="Century Gothic"/>
                <a:sym typeface="Century Gothic"/>
              </a:defRPr>
            </a:lvl4pPr>
            <a:lvl5pPr algn="l" indent="-342900" lvl="4" marL="2286000" marR="0" rtl="0">
              <a:lnSpc>
                <a:spcPct val="90000"/>
              </a:lnSpc>
              <a:spcBef>
                <a:spcPts val="500"/>
              </a:spcBef>
              <a:spcAft>
                <a:spcPts val="0"/>
              </a:spcAft>
              <a:buClr>
                <a:schemeClr val="dk1"/>
              </a:buClr>
              <a:buSzPts val="1800"/>
              <a:buFont typeface="Arial"/>
              <a:buChar char="•"/>
              <a:defRPr b="0" cap="none" i="0" strike="noStrike" sz="1800" u="none">
                <a:solidFill>
                  <a:schemeClr val="dk1"/>
                </a:solidFill>
                <a:latin typeface="Century Gothic"/>
                <a:ea typeface="Century Gothic"/>
                <a:cs typeface="Century Gothic"/>
                <a:sym typeface="Century Gothic"/>
              </a:defRPr>
            </a:lvl5pPr>
            <a:lvl6pPr algn="l" indent="-342900" lvl="5" marL="2743200" marR="0" rtl="0">
              <a:lnSpc>
                <a:spcPct val="90000"/>
              </a:lnSpc>
              <a:spcBef>
                <a:spcPts val="500"/>
              </a:spcBef>
              <a:spcAft>
                <a:spcPts val="0"/>
              </a:spcAft>
              <a:buClr>
                <a:schemeClr val="dk1"/>
              </a:buClr>
              <a:buSzPts val="1800"/>
              <a:buFont typeface="Arial"/>
              <a:buChar char="•"/>
              <a:defRPr b="0" cap="none" i="0" strike="noStrike" sz="1800" u="none">
                <a:solidFill>
                  <a:schemeClr val="dk1"/>
                </a:solidFill>
                <a:latin typeface="Calibri"/>
                <a:ea typeface="Calibri"/>
                <a:cs typeface="Calibri"/>
                <a:sym typeface="Calibri"/>
              </a:defRPr>
            </a:lvl6pPr>
            <a:lvl7pPr algn="l" indent="-342900" lvl="6" marL="3200400" marR="0" rtl="0">
              <a:lnSpc>
                <a:spcPct val="90000"/>
              </a:lnSpc>
              <a:spcBef>
                <a:spcPts val="500"/>
              </a:spcBef>
              <a:spcAft>
                <a:spcPts val="0"/>
              </a:spcAft>
              <a:buClr>
                <a:schemeClr val="dk1"/>
              </a:buClr>
              <a:buSzPts val="1800"/>
              <a:buFont typeface="Arial"/>
              <a:buChar char="•"/>
              <a:defRPr b="0" cap="none" i="0" strike="noStrike" sz="1800" u="none">
                <a:solidFill>
                  <a:schemeClr val="dk1"/>
                </a:solidFill>
                <a:latin typeface="Calibri"/>
                <a:ea typeface="Calibri"/>
                <a:cs typeface="Calibri"/>
                <a:sym typeface="Calibri"/>
              </a:defRPr>
            </a:lvl7pPr>
            <a:lvl8pPr algn="l" indent="-342900" lvl="7" marL="3657600" marR="0" rtl="0">
              <a:lnSpc>
                <a:spcPct val="90000"/>
              </a:lnSpc>
              <a:spcBef>
                <a:spcPts val="500"/>
              </a:spcBef>
              <a:spcAft>
                <a:spcPts val="0"/>
              </a:spcAft>
              <a:buClr>
                <a:schemeClr val="dk1"/>
              </a:buClr>
              <a:buSzPts val="1800"/>
              <a:buFont typeface="Arial"/>
              <a:buChar char="•"/>
              <a:defRPr b="0" cap="none" i="0" strike="noStrike" sz="1800" u="none">
                <a:solidFill>
                  <a:schemeClr val="dk1"/>
                </a:solidFill>
                <a:latin typeface="Calibri"/>
                <a:ea typeface="Calibri"/>
                <a:cs typeface="Calibri"/>
                <a:sym typeface="Calibri"/>
              </a:defRPr>
            </a:lvl8pPr>
            <a:lvl9pPr algn="l" indent="-342900" lvl="8" marL="4114800" marR="0" rtl="0">
              <a:lnSpc>
                <a:spcPct val="90000"/>
              </a:lnSpc>
              <a:spcBef>
                <a:spcPts val="500"/>
              </a:spcBef>
              <a:spcAft>
                <a:spcPts val="0"/>
              </a:spcAft>
              <a:buClr>
                <a:schemeClr val="dk1"/>
              </a:buClr>
              <a:buSzPts val="1800"/>
              <a:buFont typeface="Arial"/>
              <a:buChar char="•"/>
              <a:defRPr b="0" cap="none" i="0" strike="noStrike" sz="1800" u="none">
                <a:solidFill>
                  <a:schemeClr val="dk1"/>
                </a:solidFill>
                <a:latin typeface="Calibri"/>
                <a:ea typeface="Calibri"/>
                <a:cs typeface="Calibri"/>
                <a:sym typeface="Calibri"/>
              </a:defRPr>
            </a:lvl9pPr>
          </a:lstStyle>
          <a:p>
            <a:endParaRPr dirty="0"/>
          </a:p>
        </p:txBody>
      </p:sp>
      <p:sp>
        <p:nvSpPr>
          <p:cNvPr id="8" name="Google Shape;8;p8"/>
          <p:cNvSpPr txBox="1">
            <a:spLocks noGrp="1"/>
          </p:cNvSpPr>
          <p:nvPr>
            <p:ph idx="10" type="dt"/>
          </p:nvPr>
        </p:nvSpPr>
        <p:spPr>
          <a:xfrm>
            <a:off x="628650" y="6356350"/>
            <a:ext cx="2743200" cy="365125"/>
          </a:xfrm>
          <a:prstGeom prst="rect">
            <a:avLst/>
          </a:prstGeom>
          <a:noFill/>
          <a:ln>
            <a:noFill/>
          </a:ln>
        </p:spPr>
        <p:txBody>
          <a:bodyPr anchor="ctr" anchorCtr="0" bIns="45700" lIns="91425" rIns="91425" spcFirstLastPara="1" tIns="45700" wrap="square">
            <a:noAutofit/>
          </a:bodyPr>
          <a:lstStyle>
            <a:lvl1pPr algn="l" lvl="0" marR="0" rtl="0">
              <a:spcBef>
                <a:spcPts val="0"/>
              </a:spcBef>
              <a:spcAft>
                <a:spcPts val="0"/>
              </a:spcAft>
              <a:buSzPts val="1400"/>
              <a:buNone/>
              <a:defRPr b="0" cap="none" i="0" strike="noStrike" sz="1200" u="none">
                <a:solidFill>
                  <a:srgbClr val="888888"/>
                </a:solidFill>
                <a:latin typeface="Calibri"/>
                <a:ea typeface="Calibri"/>
                <a:cs typeface="Calibri"/>
                <a:sym typeface="Calibri"/>
              </a:defRPr>
            </a:lvl1pPr>
            <a:lvl2pPr algn="l" lvl="1"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2pPr>
            <a:lvl3pPr algn="l" lvl="2"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3pPr>
            <a:lvl4pPr algn="l" lvl="3"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4pPr>
            <a:lvl5pPr algn="l" lvl="4"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5pPr>
            <a:lvl6pPr algn="l" lvl="5"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6pPr>
            <a:lvl7pPr algn="l" lvl="6"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7pPr>
            <a:lvl8pPr algn="l" lvl="7"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8pPr>
            <a:lvl9pPr algn="l" lvl="8"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idx="11" type="ftr"/>
          </p:nvPr>
        </p:nvSpPr>
        <p:spPr>
          <a:xfrm>
            <a:off x="3524250" y="6356350"/>
            <a:ext cx="8180070" cy="365125"/>
          </a:xfrm>
          <a:prstGeom prst="rect">
            <a:avLst/>
          </a:prstGeom>
          <a:noFill/>
          <a:ln>
            <a:noFill/>
          </a:ln>
        </p:spPr>
        <p:txBody>
          <a:bodyPr anchor="ctr" anchorCtr="0" bIns="45700" lIns="91425" rIns="91425" spcFirstLastPara="1" tIns="45700" wrap="square">
            <a:noAutofit/>
          </a:bodyPr>
          <a:lstStyle>
            <a:lvl1pPr algn="ctr" lvl="0" marR="0" rtl="0">
              <a:spcBef>
                <a:spcPts val="0"/>
              </a:spcBef>
              <a:spcAft>
                <a:spcPts val="0"/>
              </a:spcAft>
              <a:buSzPts val="1400"/>
              <a:buNone/>
              <a:defRPr b="0" cap="none" i="0" strike="noStrike" sz="1200" u="none">
                <a:solidFill>
                  <a:srgbClr val="888888"/>
                </a:solidFill>
                <a:latin typeface="Calibri"/>
                <a:ea typeface="Calibri"/>
                <a:cs typeface="Calibri"/>
                <a:sym typeface="Calibri"/>
              </a:defRPr>
            </a:lvl1pPr>
            <a:lvl2pPr algn="l" lvl="1"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2pPr>
            <a:lvl3pPr algn="l" lvl="2"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3pPr>
            <a:lvl4pPr algn="l" lvl="3"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4pPr>
            <a:lvl5pPr algn="l" lvl="4"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5pPr>
            <a:lvl6pPr algn="l" lvl="5"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6pPr>
            <a:lvl7pPr algn="l" lvl="6"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7pPr>
            <a:lvl8pPr algn="l" lvl="7"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8pPr>
            <a:lvl9pPr algn="l" lvl="8"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9pPr>
          </a:lstStyle>
          <a:p>
            <a:endParaRPr/>
          </a:p>
        </p:txBody>
      </p:sp>
    </p:spTree>
  </p:cSld>
  <p:clrMap accent1="accent1" accent2="accent2" accent3="accent3" accent4="accent4" accent5="accent5" accent6="accent6" bg1="lt1" bg2="dk2" folHlink="folHlink" hlink="hlink" tx1="dk1" tx2="lt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tx1">
              <a:lumMod val="85000"/>
              <a:lumOff val="15000"/>
            </a:schemeClr>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33.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34.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3.xml" /><Relationship Id="rId3" Type="http://schemas.openxmlformats.org/officeDocument/2006/relationships/image" Target="../media/image35.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6.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 Id="rId3" Type="http://schemas.openxmlformats.org/officeDocument/2006/relationships/image" Target="../media/image37.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6.xml" /><Relationship Id="rId3" Type="http://schemas.openxmlformats.org/officeDocument/2006/relationships/image" Target="../media/image35.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38.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39.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40.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4" Type="http://schemas.openxmlformats.org/officeDocument/2006/relationships/image" Target="../media/image42.png" /><Relationship Id="rId3" Type="http://schemas.openxmlformats.org/officeDocument/2006/relationships/image" Target="../media/image41.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43.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12.xml" /><Relationship Id="rId3" Type="http://schemas.openxmlformats.org/officeDocument/2006/relationships/image" Target="../media/image35.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44.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45.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
        <p:cNvGrpSpPr/>
        <p:nvPr/>
      </p:nvGrpSpPr>
      <p:grpSpPr>
        <a:xfrm>
          <a:off x="0" y="0"/>
          <a:ext cx="0" cy="0"/>
          <a:chOff x="0" y="0"/>
          <a:chExt cx="0" cy="0"/>
        </a:xfrm>
      </p:grpSpPr>
      <p:sp>
        <p:nvSpPr>
          <p:cNvPr id="12" name="Google Shape;12;p9"/>
          <p:cNvSpPr txBox="1">
            <a:spLocks noGrp="1"/>
          </p:cNvSpPr>
          <p:nvPr>
            <p:ph type="ctrTitle"/>
          </p:nvPr>
        </p:nvSpPr>
        <p:spPr>
          <a:xfrm>
            <a:off x="454212" y="1742670"/>
            <a:ext cx="6678108" cy="1794155"/>
          </a:xfrm>
          <a:prstGeom prst="rect">
            <a:avLst/>
          </a:prstGeom>
          <a:noFill/>
          <a:ln>
            <a:noFill/>
          </a:ln>
        </p:spPr>
        <p:txBody>
          <a:bodyPr/>
          <a:lstStyle/>
          <a:p>
            <a:pPr lvl="0" indent="0" marL="0">
              <a:buNone/>
            </a:pPr>
            <a:r>
              <a:rPr/>
              <a:t>EICAT-AI</a:t>
            </a:r>
          </a:p>
        </p:txBody>
      </p:sp>
      <p:sp>
        <p:nvSpPr>
          <p:cNvPr id="13" name="Google Shape;13;p9"/>
          <p:cNvSpPr txBox="1">
            <a:spLocks noGrp="1"/>
          </p:cNvSpPr>
          <p:nvPr>
            <p:ph idx="1" type="subTitle"/>
          </p:nvPr>
        </p:nvSpPr>
        <p:spPr>
          <a:xfrm>
            <a:off x="454212" y="3734021"/>
            <a:ext cx="6678108" cy="436843"/>
          </a:xfrm>
          <a:prstGeom prst="rect">
            <a:avLst/>
          </a:prstGeom>
          <a:noFill/>
          <a:ln>
            <a:noFill/>
          </a:ln>
        </p:spPr>
        <p:txBody>
          <a:bodyPr/>
          <a:lstStyle/>
          <a:p>
            <a:pPr lvl="0" indent="0" marL="0">
              <a:buNone/>
            </a:pPr>
            <a:r>
              <a:rPr/>
              <a:t>Can a large language model assess the environmental impacts of alien species?</a:t>
            </a:r>
            <a:br/>
            <a:br/>
            <a:r>
              <a:rPr/>
              <a:t>Matthew Coole · UKCEH · OneSTOP Task 4.4</a:t>
            </a:r>
          </a:p>
        </p:txBody>
      </p:sp>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EICAT in brief</a:t>
            </a:r>
          </a:p>
        </p:txBody>
      </p:sp>
      <p:pic>
        <p:nvPicPr>
          <p:cNvPr descr="figures/context/eicat_scale.png" id="0" name="Picture 1"/>
          <p:cNvPicPr>
            <a:picLocks noGrp="1" noChangeAspect="1"/>
          </p:cNvPicPr>
          <p:nvPr/>
        </p:nvPicPr>
        <p:blipFill>
          <a:blip r:embed="rId3"/>
          <a:stretch>
            <a:fillRect/>
          </a:stretch>
        </p:blipFill>
        <p:spPr bwMode="auto">
          <a:xfrm>
            <a:off x="939800" y="1308100"/>
            <a:ext cx="10160000" cy="47498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GISD impact records</a:t>
            </a:r>
          </a:p>
        </p:txBody>
      </p:sp>
      <p:pic>
        <p:nvPicPr>
          <p:cNvPr descr="figures/context/gisd_sankey.png" id="0" name="Picture 1"/>
          <p:cNvPicPr>
            <a:picLocks noGrp="1" noChangeAspect="1"/>
          </p:cNvPicPr>
          <p:nvPr/>
        </p:nvPicPr>
        <p:blipFill>
          <a:blip r:embed="rId3"/>
          <a:stretch>
            <a:fillRect/>
          </a:stretch>
        </p:blipFill>
        <p:spPr bwMode="auto">
          <a:xfrm>
            <a:off x="749300" y="1308100"/>
            <a:ext cx="10541000" cy="47498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Shape 60"/>
        <p:cNvGrpSpPr/>
        <p:nvPr/>
      </p:nvGrpSpPr>
      <p:grpSpPr>
        <a:xfrm>
          <a:off x="0" y="0"/>
          <a:ext cx="0" cy="0"/>
          <a:chOff x="0" y="0"/>
          <a:chExt cx="0" cy="0"/>
        </a:xfrm>
      </p:grpSpPr>
      <p:sp>
        <p:nvSpPr>
          <p:cNvPr id="62" name="Google Shape;62;p13"/>
          <p:cNvSpPr txBox="1">
            <a:spLocks noGrp="1"/>
          </p:cNvSpPr>
          <p:nvPr>
            <p:ph type="title"/>
          </p:nvPr>
        </p:nvSpPr>
        <p:spPr>
          <a:xfrm>
            <a:off x="2009298" y="2622550"/>
            <a:ext cx="8173403" cy="1612900"/>
          </a:xfrm>
          <a:prstGeom prst="rect">
            <a:avLst/>
          </a:prstGeom>
          <a:noFill/>
          <a:ln>
            <a:noFill/>
          </a:ln>
        </p:spPr>
        <p:txBody>
          <a:bodyPr/>
          <a:lstStyle/>
          <a:p>
            <a:pPr lvl="0" indent="0" marL="0">
              <a:buNone/>
            </a:pPr>
            <a:r>
              <a:rPr/>
              <a:t>Building EICAT-AI</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The pipeline</a:t>
            </a:r>
          </a:p>
        </p:txBody>
      </p:sp>
      <p:pic>
        <p:nvPicPr>
          <p:cNvPr descr="figures/context/pipeline.png" id="0" name="Picture 1"/>
          <p:cNvPicPr>
            <a:picLocks noGrp="1" noChangeAspect="1"/>
          </p:cNvPicPr>
          <p:nvPr/>
        </p:nvPicPr>
        <p:blipFill>
          <a:blip r:embed="rId3"/>
          <a:stretch>
            <a:fillRect/>
          </a:stretch>
        </p:blipFill>
        <p:spPr bwMode="auto">
          <a:xfrm>
            <a:off x="939800" y="1308100"/>
            <a:ext cx="10160000" cy="47498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4" name="Google Shape;84;p16"/>
          <p:cNvSpPr txBox="1">
            <a:spLocks noGrp="1"/>
          </p:cNvSpPr>
          <p:nvPr>
            <p:ph type="title"/>
          </p:nvPr>
        </p:nvSpPr>
        <p:spPr>
          <a:xfrm>
            <a:off x="628650" y="365126"/>
            <a:ext cx="11271250" cy="711200"/>
          </a:xfrm>
          <a:prstGeom prst="rect">
            <a:avLst/>
          </a:prstGeom>
          <a:noFill/>
          <a:ln>
            <a:noFill/>
          </a:ln>
        </p:spPr>
        <p:txBody>
          <a:bodyPr/>
          <a:lstStyle/>
          <a:p>
            <a:pPr lvl="0" indent="0" marL="0">
              <a:buNone/>
            </a:pPr>
            <a:r>
              <a:rPr/>
              <a:t>The app</a:t>
            </a:r>
          </a:p>
        </p:txBody>
      </p:sp>
      <p:sp>
        <p:nvSpPr>
          <p:cNvPr id="82" name="Google Shape;82;p16"/>
          <p:cNvSpPr txBox="1">
            <a:spLocks noGrp="1"/>
          </p:cNvSpPr>
          <p:nvPr>
            <p:ph idx="1"/>
          </p:nvPr>
        </p:nvSpPr>
        <p:spPr/>
        <p:txBody>
          <a:bodyPr/>
          <a:lstStyle/>
          <a:p>
            <a:pPr lvl="0"/>
            <a:r>
              <a:rPr/>
              <a:t>Upload papers for a species</a:t>
            </a:r>
          </a:p>
          <a:p>
            <a:pPr lvl="0"/>
            <a:r>
              <a:rPr/>
              <a:t>One click runs the analysis</a:t>
            </a:r>
          </a:p>
          <a:p>
            <a:pPr lvl="0"/>
            <a:r>
              <a:rPr/>
              <a:t>Each record: </a:t>
            </a:r>
            <a:r>
              <a:rPr b="1"/>
              <a:t>category</a:t>
            </a:r>
            <a:r>
              <a:rPr/>
              <a:t>, </a:t>
            </a:r>
            <a:r>
              <a:rPr b="1"/>
              <a:t>mechanism</a:t>
            </a:r>
            <a:r>
              <a:rPr/>
              <a:t>, </a:t>
            </a:r>
            <a:r>
              <a:rPr b="1"/>
              <a:t>confidence</a:t>
            </a:r>
            <a:r>
              <a:rPr/>
              <a:t>, </a:t>
            </a:r>
            <a:r>
              <a:rPr b="1"/>
              <a:t>evidence quote</a:t>
            </a:r>
          </a:p>
          <a:p>
            <a:pPr lvl="0"/>
            <a:r>
              <a:rPr/>
              <a:t>Assessor reviews, rather than reads from scratch</a:t>
            </a:r>
          </a:p>
        </p:txBody>
      </p:sp>
      <p:pic>
        <p:nvPicPr>
          <p:cNvPr descr="assets/app-ui.png" id="0" name="Picture 1"/>
          <p:cNvPicPr>
            <a:picLocks noGrp="1" noChangeAspect="1"/>
          </p:cNvPicPr>
          <p:nvPr/>
        </p:nvPicPr>
        <p:blipFill>
          <a:blip r:embed="rId3"/>
          <a:stretch>
            <a:fillRect/>
          </a:stretch>
        </p:blipFill>
        <p:spPr bwMode="auto">
          <a:xfrm>
            <a:off x="6515100" y="1676400"/>
            <a:ext cx="5372100" cy="40513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Shape 60"/>
        <p:cNvGrpSpPr/>
        <p:nvPr/>
      </p:nvGrpSpPr>
      <p:grpSpPr>
        <a:xfrm>
          <a:off x="0" y="0"/>
          <a:ext cx="0" cy="0"/>
          <a:chOff x="0" y="0"/>
          <a:chExt cx="0" cy="0"/>
        </a:xfrm>
      </p:grpSpPr>
      <p:sp>
        <p:nvSpPr>
          <p:cNvPr id="62" name="Google Shape;62;p13"/>
          <p:cNvSpPr txBox="1">
            <a:spLocks noGrp="1"/>
          </p:cNvSpPr>
          <p:nvPr>
            <p:ph type="title"/>
          </p:nvPr>
        </p:nvSpPr>
        <p:spPr>
          <a:xfrm>
            <a:off x="2009298" y="2622550"/>
            <a:ext cx="8173403" cy="1612900"/>
          </a:xfrm>
          <a:prstGeom prst="rect">
            <a:avLst/>
          </a:prstGeom>
          <a:noFill/>
          <a:ln>
            <a:noFill/>
          </a:ln>
        </p:spPr>
        <p:txBody>
          <a:bodyPr/>
          <a:lstStyle/>
          <a:p>
            <a:pPr lvl="0" indent="0" marL="0">
              <a:buNone/>
            </a:pPr>
            <a:r>
              <a:rPr/>
              <a:t>Evaluating against GISD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Evaluation design</a:t>
            </a:r>
          </a:p>
        </p:txBody>
      </p:sp>
      <p:pic>
        <p:nvPicPr>
          <p:cNvPr descr="figures/context/eval_design.png" id="0" name="Picture 1"/>
          <p:cNvPicPr>
            <a:picLocks noGrp="1" noChangeAspect="1"/>
          </p:cNvPicPr>
          <p:nvPr/>
        </p:nvPicPr>
        <p:blipFill>
          <a:blip r:embed="rId3"/>
          <a:stretch>
            <a:fillRect/>
          </a:stretch>
        </p:blipFill>
        <p:spPr bwMode="auto">
          <a:xfrm>
            <a:off x="939800" y="1308100"/>
            <a:ext cx="10160000" cy="47498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Best configuration</a:t>
            </a:r>
          </a:p>
        </p:txBody>
      </p:sp>
      <p:pic>
        <p:nvPicPr>
          <p:cNvPr descr="figures/best/01_headline.png" id="0" name="Picture 1"/>
          <p:cNvPicPr>
            <a:picLocks noGrp="1" noChangeAspect="1"/>
          </p:cNvPicPr>
          <p:nvPr/>
        </p:nvPicPr>
        <p:blipFill>
          <a:blip r:embed="rId3"/>
          <a:stretch>
            <a:fillRect/>
          </a:stretch>
        </p:blipFill>
        <p:spPr bwMode="auto">
          <a:xfrm>
            <a:off x="533400" y="1308100"/>
            <a:ext cx="10947400" cy="47498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Model comparison</a:t>
            </a:r>
          </a:p>
        </p:txBody>
      </p:sp>
      <p:pic>
        <p:nvPicPr>
          <p:cNvPr descr="figures/compare/01_detection.png" id="0" name="Picture 1"/>
          <p:cNvPicPr>
            <a:picLocks noGrp="1" noChangeAspect="1"/>
          </p:cNvPicPr>
          <p:nvPr/>
        </p:nvPicPr>
        <p:blipFill>
          <a:blip r:embed="rId3"/>
          <a:stretch>
            <a:fillRect/>
          </a:stretch>
        </p:blipFill>
        <p:spPr bwMode="auto">
          <a:xfrm>
            <a:off x="965200" y="1308100"/>
            <a:ext cx="10083800" cy="47498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4" name="Google Shape;84;p16"/>
          <p:cNvSpPr txBox="1">
            <a:spLocks noGrp="1"/>
          </p:cNvSpPr>
          <p:nvPr>
            <p:ph type="title"/>
          </p:nvPr>
        </p:nvSpPr>
        <p:spPr>
          <a:xfrm>
            <a:off x="628650" y="365126"/>
            <a:ext cx="11271250" cy="711200"/>
          </a:xfrm>
          <a:prstGeom prst="rect">
            <a:avLst/>
          </a:prstGeom>
          <a:noFill/>
          <a:ln>
            <a:noFill/>
          </a:ln>
        </p:spPr>
        <p:txBody>
          <a:bodyPr/>
          <a:lstStyle/>
          <a:p>
            <a:pPr lvl="0" indent="0" marL="0">
              <a:buNone/>
            </a:pPr>
            <a:r>
              <a:rPr/>
              <a:t>Label accuracy</a:t>
            </a:r>
          </a:p>
        </p:txBody>
      </p:sp>
      <p:pic>
        <p:nvPicPr>
          <p:cNvPr descr="figures/best/02_mechanism_radial.png" id="0" name="Picture 1"/>
          <p:cNvPicPr>
            <a:picLocks noGrp="1" noChangeAspect="1"/>
          </p:cNvPicPr>
          <p:nvPr/>
        </p:nvPicPr>
        <p:blipFill>
          <a:blip r:embed="rId3"/>
          <a:stretch>
            <a:fillRect/>
          </a:stretch>
        </p:blipFill>
        <p:spPr bwMode="auto">
          <a:xfrm>
            <a:off x="622300" y="1612900"/>
            <a:ext cx="5372100" cy="4152900"/>
          </a:xfrm>
          <a:prstGeom prst="rect">
            <a:avLst/>
          </a:prstGeom>
          <a:noFill/>
          <a:ln w="9525">
            <a:noFill/>
            <a:headEnd/>
            <a:tailEnd/>
          </a:ln>
        </p:spPr>
      </p:pic>
      <p:pic>
        <p:nvPicPr>
          <p:cNvPr descr="figures/best/03_category_radial.png" id="0" name="Picture 1"/>
          <p:cNvPicPr>
            <a:picLocks noGrp="1" noChangeAspect="1"/>
          </p:cNvPicPr>
          <p:nvPr/>
        </p:nvPicPr>
        <p:blipFill>
          <a:blip r:embed="rId4"/>
          <a:stretch>
            <a:fillRect/>
          </a:stretch>
        </p:blipFill>
        <p:spPr bwMode="auto">
          <a:xfrm>
            <a:off x="6515100" y="1447800"/>
            <a:ext cx="5372100" cy="44831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Severity</a:t>
            </a:r>
          </a:p>
        </p:txBody>
      </p:sp>
      <p:pic>
        <p:nvPicPr>
          <p:cNvPr descr="figures/best/05_severity_distance.png" id="0" name="Picture 1"/>
          <p:cNvPicPr>
            <a:picLocks noGrp="1" noChangeAspect="1"/>
          </p:cNvPicPr>
          <p:nvPr/>
        </p:nvPicPr>
        <p:blipFill>
          <a:blip r:embed="rId3"/>
          <a:stretch>
            <a:fillRect/>
          </a:stretch>
        </p:blipFill>
        <p:spPr bwMode="auto">
          <a:xfrm>
            <a:off x="520700" y="1320800"/>
            <a:ext cx="10985500" cy="47117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Shape 60"/>
        <p:cNvGrpSpPr/>
        <p:nvPr/>
      </p:nvGrpSpPr>
      <p:grpSpPr>
        <a:xfrm>
          <a:off x="0" y="0"/>
          <a:ext cx="0" cy="0"/>
          <a:chOff x="0" y="0"/>
          <a:chExt cx="0" cy="0"/>
        </a:xfrm>
      </p:grpSpPr>
      <p:sp>
        <p:nvSpPr>
          <p:cNvPr id="62" name="Google Shape;62;p13"/>
          <p:cNvSpPr txBox="1">
            <a:spLocks noGrp="1"/>
          </p:cNvSpPr>
          <p:nvPr>
            <p:ph type="title"/>
          </p:nvPr>
        </p:nvSpPr>
        <p:spPr>
          <a:xfrm>
            <a:off x="2009298" y="2622550"/>
            <a:ext cx="8173403" cy="1612900"/>
          </a:xfrm>
          <a:prstGeom prst="rect">
            <a:avLst/>
          </a:prstGeom>
          <a:noFill/>
          <a:ln>
            <a:noFill/>
          </a:ln>
        </p:spPr>
        <p:txBody>
          <a:bodyPr/>
          <a:lstStyle/>
          <a:p>
            <a:pPr lvl="0" indent="0" marL="0">
              <a:buNone/>
            </a:pPr>
            <a:r>
              <a:rPr/>
              <a:t>Inter-annotator agreement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Human agreement</a:t>
            </a:r>
          </a:p>
        </p:txBody>
      </p:sp>
      <p:pic>
        <p:nvPicPr>
          <p:cNvPr descr="figures/iaa/03_alpha_by_group.png" id="0" name="Picture 1"/>
          <p:cNvPicPr>
            <a:picLocks noGrp="1" noChangeAspect="1"/>
          </p:cNvPicPr>
          <p:nvPr/>
        </p:nvPicPr>
        <p:blipFill>
          <a:blip r:embed="rId3"/>
          <a:stretch>
            <a:fillRect/>
          </a:stretch>
        </p:blipFill>
        <p:spPr bwMode="auto">
          <a:xfrm>
            <a:off x="1282700" y="1308100"/>
            <a:ext cx="9461500" cy="47498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Annotator experience</a:t>
            </a:r>
          </a:p>
        </p:txBody>
      </p:sp>
      <p:pic>
        <p:nvPicPr>
          <p:cNvPr descr="figures/iaa/02_jaccard_by_pair_type.png" id="0" name="Picture 1"/>
          <p:cNvPicPr>
            <a:picLocks noGrp="1" noChangeAspect="1"/>
          </p:cNvPicPr>
          <p:nvPr/>
        </p:nvPicPr>
        <p:blipFill>
          <a:blip r:embed="rId3"/>
          <a:stretch>
            <a:fillRect/>
          </a:stretch>
        </p:blipFill>
        <p:spPr bwMode="auto">
          <a:xfrm>
            <a:off x="1206500" y="1308100"/>
            <a:ext cx="9626600" cy="47498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Take-home</a:t>
            </a:r>
          </a:p>
        </p:txBody>
      </p:sp>
      <p:sp>
        <p:nvSpPr>
          <p:cNvPr id="19" name="Google Shape;19;p10"/>
          <p:cNvSpPr txBox="1">
            <a:spLocks noGrp="1"/>
          </p:cNvSpPr>
          <p:nvPr>
            <p:ph idx="1"/>
          </p:nvPr>
        </p:nvSpPr>
        <p:spPr/>
        <p:txBody>
          <a:bodyPr/>
          <a:lstStyle/>
          <a:p>
            <a:pPr lvl="0"/>
            <a:r>
              <a:rPr b="1"/>
              <a:t>Finds ¾ of GISD impacts</a:t>
            </a:r>
            <a:r>
              <a:rPr/>
              <a:t> for under a cent per paper</a:t>
            </a:r>
          </a:p>
          <a:p>
            <a:pPr lvl="0"/>
            <a:r>
              <a:rPr b="1"/>
              <a:t>Over-reports</a:t>
            </a:r>
            <a:r>
              <a:rPr/>
              <a:t>: precision 0.36, so an expert stays in the loop</a:t>
            </a:r>
          </a:p>
          <a:p>
            <a:pPr lvl="0"/>
            <a:r>
              <a:rPr b="1"/>
              <a:t>Mechanism ✓, severity ~</a:t>
            </a:r>
            <a:r>
              <a:rPr/>
              <a:t>: within one category for 75% of papers</a:t>
            </a:r>
          </a:p>
          <a:p>
            <a:pPr lvl="0"/>
            <a:r>
              <a:rPr b="1"/>
              <a:t>Humans aren’t unanimous either</a:t>
            </a:r>
            <a:r>
              <a:rPr/>
              <a:t>: impacts α = 0.39, severity α = 0.69</a:t>
            </a:r>
          </a:p>
          <a:p>
            <a:pPr lvl="0"/>
            <a:r>
              <a:rPr b="1"/>
              <a:t>Next</a:t>
            </a:r>
            <a:r>
              <a:rPr/>
              <a:t>: larger IAA round, compare the model directly against human agreement, sharpen precision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a:lstStyle/>
          <a:p>
            <a:pPr lvl="0" indent="0" marL="0">
              <a:buNone/>
            </a:pPr>
            <a:r>
              <a:rPr/>
              <a:t>Thank you</a:t>
            </a:r>
          </a:p>
        </p:txBody>
      </p:sp>
      <p:sp>
        <p:nvSpPr>
          <p:cNvPr id="19" name="Google Shape;19;p10"/>
          <p:cNvSpPr txBox="1">
            <a:spLocks noGrp="1"/>
          </p:cNvSpPr>
          <p:nvPr>
            <p:ph idx="1"/>
          </p:nvPr>
        </p:nvSpPr>
        <p:spPr/>
        <p:txBody>
          <a:bodyPr/>
          <a:lstStyle/>
          <a:p>
            <a:pPr lvl="0" indent="0" marL="0">
              <a:buNone/>
            </a:pPr>
            <a:r>
              <a:rPr/>
              <a:t>Questions welcome</a:t>
            </a:r>
          </a:p>
          <a:p>
            <a:pPr lvl="0" indent="0" marL="0">
              <a:buNone/>
            </a:pPr>
            <a:r>
              <a:rPr/>
              <a:t>OneSTOP receives funding from the European Union’s Horizon Europe Research and Innovation Programme (ID No 101180559). Views and opinions expressed are those of the author(s) only and do not necessarily reflect those of the European Union or the European Research Executive Agency (REA). Neither the EU nor REA can be held responsible for them.</a:t>
            </a:r>
          </a:p>
        </p:txBody>
      </p:sp>
    </p:spTree>
  </p:cSld>
</p:sld>
</file>

<file path=ppt/theme/theme1.xml><?xml version="1.0" encoding="utf-8"?>
<a:theme xmlns:a="http://schemas.openxmlformats.org/drawingml/2006/main" name="Тема на Office">
  <a:themeElements>
    <a:clrScheme name="О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78</Words>
  <Application>Microsoft Macintosh PowerPoint</Application>
  <PresentationFormat>Widescreen</PresentationFormat>
  <Paragraphs>17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Calibri</vt:lpstr>
      <vt:lpstr>Тема на Office</vt:lpstr>
      <vt:lpstr>Click to edit master title style</vt:lpstr>
      <vt:lpstr>Click to edit master title style</vt:lpstr>
      <vt:lpstr>Partners</vt:lpstr>
      <vt:lpstr>PowerPoint Presentation</vt:lpstr>
      <vt:lpstr>Click to edit Master title style</vt:lpstr>
      <vt:lpstr>Click to edit master title style</vt:lpstr>
      <vt:lpstr>Follow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EICAT-AI</dc:title>
  <dc:creator>Matthew Coole · UKCEH · OneSTOP Task 4.4</dc:creator>
  <cp:keywords/>
  <dcterms:created xsi:type="dcterms:W3CDTF">2026-10-19T19:21:03Z</dcterms:created>
  <dcterms:modified xsi:type="dcterms:W3CDTF">2026-10-19T19:21:03Z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
  </property>
  <property fmtid="{D5CDD505-2E9C-101B-9397-08002B2CF9AE}" pid="5" name="by-author">
    <vt:lpwstr/>
  </property>
  <property fmtid="{D5CDD505-2E9C-101B-9397-08002B2CF9AE}" pid="6" name="date">
    <vt:lpwstr>October 2026</vt:lpwstr>
  </property>
  <property fmtid="{D5CDD505-2E9C-101B-9397-08002B2CF9AE}" pid="7" name="date-format">
    <vt:lpwstr>MMMM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Can a large language model assess the environmental impacts of alien species?</vt:lpwstr>
  </property>
  <property fmtid="{D5CDD505-2E9C-101B-9397-08002B2CF9AE}" pid="13" name="toc-title">
    <vt:lpwstr>Table of contents</vt:lpwstr>
  </property>
</Properties>
</file>